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72"/>
  </p:notesMasterIdLst>
  <p:sldIdLst>
    <p:sldId id="425" r:id="rId6"/>
    <p:sldId id="424" r:id="rId7"/>
    <p:sldId id="844" r:id="rId8"/>
    <p:sldId id="851" r:id="rId9"/>
    <p:sldId id="859" r:id="rId10"/>
    <p:sldId id="852" r:id="rId11"/>
    <p:sldId id="853" r:id="rId12"/>
    <p:sldId id="854" r:id="rId13"/>
    <p:sldId id="864" r:id="rId14"/>
    <p:sldId id="860" r:id="rId15"/>
    <p:sldId id="861" r:id="rId16"/>
    <p:sldId id="862" r:id="rId17"/>
    <p:sldId id="863" r:id="rId18"/>
    <p:sldId id="866" r:id="rId19"/>
    <p:sldId id="865" r:id="rId20"/>
    <p:sldId id="867" r:id="rId21"/>
    <p:sldId id="868" r:id="rId22"/>
    <p:sldId id="869" r:id="rId23"/>
    <p:sldId id="870" r:id="rId24"/>
    <p:sldId id="871" r:id="rId25"/>
    <p:sldId id="872" r:id="rId26"/>
    <p:sldId id="873" r:id="rId27"/>
    <p:sldId id="874" r:id="rId28"/>
    <p:sldId id="875" r:id="rId29"/>
    <p:sldId id="876" r:id="rId30"/>
    <p:sldId id="877" r:id="rId31"/>
    <p:sldId id="878" r:id="rId32"/>
    <p:sldId id="879" r:id="rId33"/>
    <p:sldId id="880" r:id="rId34"/>
    <p:sldId id="881" r:id="rId35"/>
    <p:sldId id="882" r:id="rId36"/>
    <p:sldId id="883" r:id="rId37"/>
    <p:sldId id="884" r:id="rId38"/>
    <p:sldId id="886" r:id="rId39"/>
    <p:sldId id="887" r:id="rId40"/>
    <p:sldId id="888" r:id="rId41"/>
    <p:sldId id="889" r:id="rId42"/>
    <p:sldId id="890" r:id="rId43"/>
    <p:sldId id="891" r:id="rId44"/>
    <p:sldId id="892" r:id="rId45"/>
    <p:sldId id="893" r:id="rId46"/>
    <p:sldId id="894" r:id="rId47"/>
    <p:sldId id="895" r:id="rId48"/>
    <p:sldId id="896" r:id="rId49"/>
    <p:sldId id="897" r:id="rId50"/>
    <p:sldId id="898" r:id="rId51"/>
    <p:sldId id="899" r:id="rId52"/>
    <p:sldId id="900" r:id="rId53"/>
    <p:sldId id="901" r:id="rId54"/>
    <p:sldId id="902" r:id="rId55"/>
    <p:sldId id="903" r:id="rId56"/>
    <p:sldId id="904" r:id="rId57"/>
    <p:sldId id="905" r:id="rId58"/>
    <p:sldId id="906" r:id="rId59"/>
    <p:sldId id="907" r:id="rId60"/>
    <p:sldId id="908" r:id="rId61"/>
    <p:sldId id="909" r:id="rId62"/>
    <p:sldId id="910" r:id="rId63"/>
    <p:sldId id="911" r:id="rId64"/>
    <p:sldId id="912" r:id="rId65"/>
    <p:sldId id="913" r:id="rId66"/>
    <p:sldId id="914" r:id="rId67"/>
    <p:sldId id="915" r:id="rId68"/>
    <p:sldId id="916" r:id="rId69"/>
    <p:sldId id="917" r:id="rId70"/>
    <p:sldId id="885" r:id="rId71"/>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69FED4-7AD5-4868-89CD-76C293C92C78}">
          <p14:sldIdLst>
            <p14:sldId id="425"/>
            <p14:sldId id="424"/>
          </p14:sldIdLst>
        </p14:section>
        <p14:section name="Untitled Section" id="{2F5A2262-D41C-468D-9524-C2B72F42627C}">
          <p14:sldIdLst>
            <p14:sldId id="844"/>
            <p14:sldId id="851"/>
            <p14:sldId id="859"/>
            <p14:sldId id="852"/>
            <p14:sldId id="853"/>
            <p14:sldId id="854"/>
            <p14:sldId id="864"/>
            <p14:sldId id="860"/>
            <p14:sldId id="861"/>
            <p14:sldId id="862"/>
            <p14:sldId id="863"/>
            <p14:sldId id="866"/>
            <p14:sldId id="865"/>
            <p14:sldId id="867"/>
            <p14:sldId id="868"/>
            <p14:sldId id="869"/>
            <p14:sldId id="870"/>
          </p14:sldIdLst>
        </p14:section>
        <p14:section name="Default Section" id="{021EF0C1-921E-F744-99DB-49BFD23094E0}">
          <p14:sldIdLst>
            <p14:sldId id="871"/>
            <p14:sldId id="872"/>
            <p14:sldId id="873"/>
            <p14:sldId id="874"/>
            <p14:sldId id="875"/>
            <p14:sldId id="876"/>
            <p14:sldId id="877"/>
            <p14:sldId id="878"/>
            <p14:sldId id="879"/>
            <p14:sldId id="880"/>
            <p14:sldId id="881"/>
            <p14:sldId id="882"/>
            <p14:sldId id="883"/>
            <p14:sldId id="884"/>
            <p14:sldId id="886"/>
            <p14:sldId id="887"/>
            <p14:sldId id="888"/>
          </p14:sldIdLst>
        </p14:section>
        <p14:section name="Default Section" id="{3E7FEAAD-6669-E84D-9A81-D4D243F579CA}">
          <p14:sldIdLst>
            <p14:sldId id="889"/>
            <p14:sldId id="890"/>
            <p14:sldId id="891"/>
            <p14:sldId id="892"/>
            <p14:sldId id="893"/>
            <p14:sldId id="894"/>
            <p14:sldId id="895"/>
            <p14:sldId id="896"/>
            <p14:sldId id="897"/>
            <p14:sldId id="898"/>
            <p14:sldId id="899"/>
            <p14:sldId id="900"/>
            <p14:sldId id="901"/>
            <p14:sldId id="902"/>
            <p14:sldId id="903"/>
            <p14:sldId id="904"/>
            <p14:sldId id="905"/>
            <p14:sldId id="906"/>
            <p14:sldId id="907"/>
            <p14:sldId id="908"/>
            <p14:sldId id="909"/>
            <p14:sldId id="910"/>
            <p14:sldId id="911"/>
            <p14:sldId id="912"/>
            <p14:sldId id="913"/>
            <p14:sldId id="914"/>
            <p14:sldId id="915"/>
            <p14:sldId id="916"/>
            <p14:sldId id="917"/>
            <p14:sldId id="885"/>
          </p14:sldIdLst>
        </p14:section>
        <p14:section name="Untitled Section" id="{127666F7-D62C-914E-905F-6CF6A7ECB1F4}">
          <p14:sldIdLst/>
        </p14:section>
        <p14:section name="Untitled Section" id="{5A2329D1-6F3F-9E45-B7DD-1BBBFA8CE5B4}">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ssandra Maffei" initials="AM" lastIdx="5" clrIdx="0"/>
  <p:cmAuthor id="2" name="Sandra Acero" initials="SA" lastIdx="9" clrIdx="1"/>
  <p:cmAuthor id="3" name="Tom Boyle" initials="TB" lastIdx="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377"/>
    <a:srgbClr val="FFC000"/>
    <a:srgbClr val="FFD86E"/>
    <a:srgbClr val="8CB6D3"/>
    <a:srgbClr val="298DE7"/>
    <a:srgbClr val="425A7B"/>
    <a:srgbClr val="345073"/>
    <a:srgbClr val="5468A0"/>
    <a:srgbClr val="6176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36" autoAdjust="0"/>
    <p:restoredTop sz="90438" autoAdjust="0"/>
  </p:normalViewPr>
  <p:slideViewPr>
    <p:cSldViewPr>
      <p:cViewPr varScale="1">
        <p:scale>
          <a:sx n="86" d="100"/>
          <a:sy n="86" d="100"/>
        </p:scale>
        <p:origin x="2136" y="216"/>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F99D4F48-305B-4035-9811-ED15498C64BE}" type="datetimeFigureOut">
              <a:rPr lang="en-GB" smtClean="0"/>
              <a:t>18/10/2026</a:t>
            </a:fld>
            <a:endParaRPr lang="en-GB"/>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F6CA9E01-3A7E-44B6-B977-88603140EDA7}" type="slidenum">
              <a:rPr lang="en-GB" smtClean="0"/>
              <a:t>‹#›</a:t>
            </a:fld>
            <a:endParaRPr lang="en-GB"/>
          </a:p>
        </p:txBody>
      </p:sp>
    </p:spTree>
    <p:extLst>
      <p:ext uri="{BB962C8B-B14F-4D97-AF65-F5344CB8AC3E}">
        <p14:creationId xmlns:p14="http://schemas.microsoft.com/office/powerpoint/2010/main" val="870694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6CA9E01-3A7E-44B6-B977-88603140EDA7}" type="slidenum">
              <a:rPr lang="en-GB" smtClean="0"/>
              <a:t>1</a:t>
            </a:fld>
            <a:endParaRPr lang="en-GB"/>
          </a:p>
        </p:txBody>
      </p:sp>
    </p:spTree>
    <p:extLst>
      <p:ext uri="{BB962C8B-B14F-4D97-AF65-F5344CB8AC3E}">
        <p14:creationId xmlns:p14="http://schemas.microsoft.com/office/powerpoint/2010/main" val="3475723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6CA9E01-3A7E-44B6-B977-88603140EDA7}" type="slidenum">
              <a:rPr lang="en-GB" smtClean="0"/>
              <a:t>37</a:t>
            </a:fld>
            <a:endParaRPr lang="en-GB"/>
          </a:p>
        </p:txBody>
      </p:sp>
    </p:spTree>
    <p:extLst>
      <p:ext uri="{BB962C8B-B14F-4D97-AF65-F5344CB8AC3E}">
        <p14:creationId xmlns:p14="http://schemas.microsoft.com/office/powerpoint/2010/main" val="3475723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4500" y="2384968"/>
            <a:ext cx="9804400" cy="12446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444500" y="5454803"/>
            <a:ext cx="9804400" cy="150875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FFAC29"/>
                </a:solidFill>
                <a:latin typeface="Neuzeit Grotesk"/>
                <a:cs typeface="Neuzeit Grotes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FFAC29"/>
                </a:solidFill>
                <a:latin typeface="Neuzeit Grotesk"/>
                <a:cs typeface="Neuzeit Grotesk"/>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16" name="bk object 16"/>
          <p:cNvSpPr/>
          <p:nvPr/>
        </p:nvSpPr>
        <p:spPr>
          <a:xfrm>
            <a:off x="457200" y="2269858"/>
            <a:ext cx="3145777" cy="1988312"/>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773111" y="2269845"/>
            <a:ext cx="3145772" cy="2296160"/>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3773106" y="4806647"/>
            <a:ext cx="3145777" cy="229615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6709241" y="0"/>
            <a:ext cx="3983354" cy="4262120"/>
          </a:xfrm>
          <a:custGeom>
            <a:avLst/>
            <a:gdLst/>
            <a:ahLst/>
            <a:cxnLst/>
            <a:rect l="l" t="t" r="r" b="b"/>
            <a:pathLst>
              <a:path w="3983354" h="4262120">
                <a:moveTo>
                  <a:pt x="3982761" y="0"/>
                </a:moveTo>
                <a:lnTo>
                  <a:pt x="0" y="0"/>
                </a:lnTo>
                <a:lnTo>
                  <a:pt x="7301" y="9514"/>
                </a:lnTo>
                <a:lnTo>
                  <a:pt x="35284" y="47289"/>
                </a:lnTo>
                <a:lnTo>
                  <a:pt x="62662" y="85544"/>
                </a:lnTo>
                <a:lnTo>
                  <a:pt x="89446" y="124261"/>
                </a:lnTo>
                <a:lnTo>
                  <a:pt x="115648" y="163420"/>
                </a:lnTo>
                <a:lnTo>
                  <a:pt x="141281" y="203001"/>
                </a:lnTo>
                <a:lnTo>
                  <a:pt x="166358" y="242985"/>
                </a:lnTo>
                <a:lnTo>
                  <a:pt x="190891" y="283351"/>
                </a:lnTo>
                <a:lnTo>
                  <a:pt x="214893" y="324082"/>
                </a:lnTo>
                <a:lnTo>
                  <a:pt x="238375" y="365156"/>
                </a:lnTo>
                <a:lnTo>
                  <a:pt x="261350" y="406554"/>
                </a:lnTo>
                <a:lnTo>
                  <a:pt x="283831" y="448257"/>
                </a:lnTo>
                <a:lnTo>
                  <a:pt x="305830" y="490245"/>
                </a:lnTo>
                <a:lnTo>
                  <a:pt x="327360" y="532498"/>
                </a:lnTo>
                <a:lnTo>
                  <a:pt x="348432" y="574997"/>
                </a:lnTo>
                <a:lnTo>
                  <a:pt x="369060" y="617723"/>
                </a:lnTo>
                <a:lnTo>
                  <a:pt x="389256" y="660655"/>
                </a:lnTo>
                <a:lnTo>
                  <a:pt x="409032" y="703774"/>
                </a:lnTo>
                <a:lnTo>
                  <a:pt x="428400" y="747060"/>
                </a:lnTo>
                <a:lnTo>
                  <a:pt x="447374" y="790494"/>
                </a:lnTo>
                <a:lnTo>
                  <a:pt x="465964" y="834056"/>
                </a:lnTo>
                <a:lnTo>
                  <a:pt x="484185" y="877727"/>
                </a:lnTo>
                <a:lnTo>
                  <a:pt x="502048" y="921487"/>
                </a:lnTo>
                <a:lnTo>
                  <a:pt x="519566" y="965316"/>
                </a:lnTo>
                <a:lnTo>
                  <a:pt x="536751" y="1009195"/>
                </a:lnTo>
                <a:lnTo>
                  <a:pt x="553616" y="1053104"/>
                </a:lnTo>
                <a:lnTo>
                  <a:pt x="570172" y="1097024"/>
                </a:lnTo>
                <a:lnTo>
                  <a:pt x="586433" y="1140934"/>
                </a:lnTo>
                <a:lnTo>
                  <a:pt x="602411" y="1184816"/>
                </a:lnTo>
                <a:lnTo>
                  <a:pt x="618118" y="1228649"/>
                </a:lnTo>
                <a:lnTo>
                  <a:pt x="633567" y="1272415"/>
                </a:lnTo>
                <a:lnTo>
                  <a:pt x="648770" y="1316093"/>
                </a:lnTo>
                <a:lnTo>
                  <a:pt x="663739" y="1359664"/>
                </a:lnTo>
                <a:lnTo>
                  <a:pt x="678487" y="1403109"/>
                </a:lnTo>
                <a:lnTo>
                  <a:pt x="693027" y="1446407"/>
                </a:lnTo>
                <a:lnTo>
                  <a:pt x="707371" y="1489539"/>
                </a:lnTo>
                <a:lnTo>
                  <a:pt x="721531" y="1532485"/>
                </a:lnTo>
                <a:lnTo>
                  <a:pt x="735519" y="1575227"/>
                </a:lnTo>
                <a:lnTo>
                  <a:pt x="749349" y="1617743"/>
                </a:lnTo>
                <a:lnTo>
                  <a:pt x="763032" y="1660016"/>
                </a:lnTo>
                <a:lnTo>
                  <a:pt x="829684" y="1867026"/>
                </a:lnTo>
                <a:lnTo>
                  <a:pt x="842749" y="1907420"/>
                </a:lnTo>
                <a:lnTo>
                  <a:pt x="855755" y="1947433"/>
                </a:lnTo>
                <a:lnTo>
                  <a:pt x="868713" y="1987045"/>
                </a:lnTo>
                <a:lnTo>
                  <a:pt x="881637" y="2026235"/>
                </a:lnTo>
                <a:lnTo>
                  <a:pt x="894538" y="2064986"/>
                </a:lnTo>
                <a:lnTo>
                  <a:pt x="907429" y="2103276"/>
                </a:lnTo>
                <a:lnTo>
                  <a:pt x="920324" y="2141087"/>
                </a:lnTo>
                <a:lnTo>
                  <a:pt x="933233" y="2178399"/>
                </a:lnTo>
                <a:lnTo>
                  <a:pt x="946169" y="2215191"/>
                </a:lnTo>
                <a:lnTo>
                  <a:pt x="959146" y="2251446"/>
                </a:lnTo>
                <a:lnTo>
                  <a:pt x="985268" y="2322260"/>
                </a:lnTo>
                <a:lnTo>
                  <a:pt x="1011698" y="2390686"/>
                </a:lnTo>
                <a:lnTo>
                  <a:pt x="1038537" y="2456566"/>
                </a:lnTo>
                <a:lnTo>
                  <a:pt x="1065882" y="2519743"/>
                </a:lnTo>
                <a:lnTo>
                  <a:pt x="1093835" y="2580060"/>
                </a:lnTo>
                <a:lnTo>
                  <a:pt x="1401334" y="3129005"/>
                </a:lnTo>
                <a:lnTo>
                  <a:pt x="1891809" y="3514998"/>
                </a:lnTo>
                <a:lnTo>
                  <a:pt x="2914439" y="3920748"/>
                </a:lnTo>
                <a:lnTo>
                  <a:pt x="3982761" y="4262021"/>
                </a:lnTo>
                <a:lnTo>
                  <a:pt x="3982761" y="0"/>
                </a:lnTo>
                <a:close/>
              </a:path>
            </a:pathLst>
          </a:custGeom>
          <a:solidFill>
            <a:srgbClr val="A3D3ED"/>
          </a:solidFill>
        </p:spPr>
        <p:txBody>
          <a:bodyPr wrap="square" lIns="0" tIns="0" rIns="0" bIns="0" rtlCol="0"/>
          <a:lstStyle/>
          <a:p>
            <a:endParaRPr/>
          </a:p>
        </p:txBody>
      </p:sp>
      <p:sp>
        <p:nvSpPr>
          <p:cNvPr id="20" name="bk object 20"/>
          <p:cNvSpPr/>
          <p:nvPr/>
        </p:nvSpPr>
        <p:spPr>
          <a:xfrm>
            <a:off x="0" y="4881636"/>
            <a:ext cx="2741930" cy="2678430"/>
          </a:xfrm>
          <a:custGeom>
            <a:avLst/>
            <a:gdLst/>
            <a:ahLst/>
            <a:cxnLst/>
            <a:rect l="l" t="t" r="r" b="b"/>
            <a:pathLst>
              <a:path w="2741930" h="2678429">
                <a:moveTo>
                  <a:pt x="0" y="0"/>
                </a:moveTo>
                <a:lnTo>
                  <a:pt x="0" y="2678369"/>
                </a:lnTo>
                <a:lnTo>
                  <a:pt x="2741610" y="2678369"/>
                </a:lnTo>
                <a:lnTo>
                  <a:pt x="2727372" y="2635969"/>
                </a:lnTo>
                <a:lnTo>
                  <a:pt x="2713029" y="2592837"/>
                </a:lnTo>
                <a:lnTo>
                  <a:pt x="2698869" y="2549891"/>
                </a:lnTo>
                <a:lnTo>
                  <a:pt x="2684881" y="2507149"/>
                </a:lnTo>
                <a:lnTo>
                  <a:pt x="2671051" y="2464633"/>
                </a:lnTo>
                <a:lnTo>
                  <a:pt x="2657368" y="2422360"/>
                </a:lnTo>
                <a:lnTo>
                  <a:pt x="2590716" y="2215350"/>
                </a:lnTo>
                <a:lnTo>
                  <a:pt x="2577652" y="2174956"/>
                </a:lnTo>
                <a:lnTo>
                  <a:pt x="2564646" y="2134943"/>
                </a:lnTo>
                <a:lnTo>
                  <a:pt x="2551688" y="2095331"/>
                </a:lnTo>
                <a:lnTo>
                  <a:pt x="2538764" y="2056141"/>
                </a:lnTo>
                <a:lnTo>
                  <a:pt x="2525863" y="2017390"/>
                </a:lnTo>
                <a:lnTo>
                  <a:pt x="2512972" y="1979100"/>
                </a:lnTo>
                <a:lnTo>
                  <a:pt x="2500078" y="1941289"/>
                </a:lnTo>
                <a:lnTo>
                  <a:pt x="2487169" y="1903977"/>
                </a:lnTo>
                <a:lnTo>
                  <a:pt x="2474232" y="1867185"/>
                </a:lnTo>
                <a:lnTo>
                  <a:pt x="2461256" y="1830930"/>
                </a:lnTo>
                <a:lnTo>
                  <a:pt x="2435134" y="1760116"/>
                </a:lnTo>
                <a:lnTo>
                  <a:pt x="2408704" y="1691690"/>
                </a:lnTo>
                <a:lnTo>
                  <a:pt x="2381865" y="1625810"/>
                </a:lnTo>
                <a:lnTo>
                  <a:pt x="2354520" y="1562633"/>
                </a:lnTo>
                <a:lnTo>
                  <a:pt x="2326567" y="1502316"/>
                </a:lnTo>
                <a:lnTo>
                  <a:pt x="2019068" y="953371"/>
                </a:lnTo>
                <a:lnTo>
                  <a:pt x="1528593" y="567378"/>
                </a:lnTo>
                <a:lnTo>
                  <a:pt x="505963" y="161628"/>
                </a:lnTo>
                <a:lnTo>
                  <a:pt x="0" y="0"/>
                </a:lnTo>
                <a:close/>
              </a:path>
            </a:pathLst>
          </a:custGeom>
          <a:solidFill>
            <a:srgbClr val="A3D3ED"/>
          </a:solidFill>
        </p:spPr>
        <p:txBody>
          <a:bodyPr wrap="square" lIns="0" tIns="0" rIns="0" bIns="0" rtlCol="0"/>
          <a:lstStyle/>
          <a:p>
            <a:endParaRPr/>
          </a:p>
        </p:txBody>
      </p:sp>
      <p:sp>
        <p:nvSpPr>
          <p:cNvPr id="21" name="bk object 21"/>
          <p:cNvSpPr/>
          <p:nvPr/>
        </p:nvSpPr>
        <p:spPr>
          <a:xfrm>
            <a:off x="7089025" y="2269847"/>
            <a:ext cx="3145777" cy="2296158"/>
          </a:xfrm>
          <a:prstGeom prst="rect">
            <a:avLst/>
          </a:prstGeom>
          <a:blipFill>
            <a:blip r:embed="rId5" cstate="print"/>
            <a:stretch>
              <a:fillRect/>
            </a:stretch>
          </a:blipFill>
        </p:spPr>
        <p:txBody>
          <a:bodyPr wrap="square" lIns="0" tIns="0" rIns="0" bIns="0" rtlCol="0"/>
          <a:lstStyle/>
          <a:p>
            <a:endParaRPr/>
          </a:p>
        </p:txBody>
      </p:sp>
      <p:sp>
        <p:nvSpPr>
          <p:cNvPr id="22" name="bk object 22"/>
          <p:cNvSpPr/>
          <p:nvPr/>
        </p:nvSpPr>
        <p:spPr>
          <a:xfrm>
            <a:off x="457200" y="4806647"/>
            <a:ext cx="3145777" cy="2296157"/>
          </a:xfrm>
          <a:prstGeom prst="rect">
            <a:avLst/>
          </a:prstGeom>
          <a:blipFill>
            <a:blip r:embed="rId6" cstate="print"/>
            <a:stretch>
              <a:fillRect/>
            </a:stretch>
          </a:blipFill>
        </p:spPr>
        <p:txBody>
          <a:bodyPr wrap="square" lIns="0" tIns="0" rIns="0" bIns="0" rtlCol="0"/>
          <a:lstStyle/>
          <a:p>
            <a:endParaRPr/>
          </a:p>
        </p:txBody>
      </p:sp>
      <p:sp>
        <p:nvSpPr>
          <p:cNvPr id="23" name="bk object 23"/>
          <p:cNvSpPr/>
          <p:nvPr/>
        </p:nvSpPr>
        <p:spPr>
          <a:xfrm>
            <a:off x="7089025" y="4806645"/>
            <a:ext cx="3145773" cy="229616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8000" b="1" i="0">
                <a:solidFill>
                  <a:srgbClr val="FFAC29"/>
                </a:solidFill>
                <a:latin typeface="Neuzeit Grotesk"/>
                <a:cs typeface="Neuzeit Grotes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10/18/26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45073"/>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44500" y="2186969"/>
            <a:ext cx="9804400" cy="1244600"/>
          </a:xfrm>
          <a:prstGeom prst="rect">
            <a:avLst/>
          </a:prstGeom>
        </p:spPr>
        <p:txBody>
          <a:bodyPr wrap="square" lIns="0" tIns="0" rIns="0" bIns="0">
            <a:spAutoFit/>
          </a:bodyPr>
          <a:lstStyle>
            <a:lvl1pPr>
              <a:defRPr sz="8000" b="1" i="0">
                <a:solidFill>
                  <a:srgbClr val="FFAC29"/>
                </a:solidFill>
                <a:latin typeface="Neuzeit Grotesk"/>
                <a:cs typeface="Neuzeit Grotesk"/>
              </a:defRPr>
            </a:lvl1pPr>
          </a:lstStyle>
          <a:p>
            <a:endParaRPr/>
          </a:p>
        </p:txBody>
      </p:sp>
      <p:sp>
        <p:nvSpPr>
          <p:cNvPr id="3" name="Holder 3"/>
          <p:cNvSpPr>
            <a:spLocks noGrp="1"/>
          </p:cNvSpPr>
          <p:nvPr>
            <p:ph type="body" idx="1"/>
          </p:nvPr>
        </p:nvSpPr>
        <p:spPr>
          <a:xfrm>
            <a:off x="444500" y="1736969"/>
            <a:ext cx="9804400" cy="31311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10/18/26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eb.stanford.edu/~hastie/Papers/LARS/LeastAngle_2002.pdf" TargetMode="External"/><Relationship Id="rId2" Type="http://schemas.openxmlformats.org/officeDocument/2006/relationships/hyperlink" Target="https://www4.stat.ncsu.edu/~boos/var.select/diabetes.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BD276F-EB7E-43CC-9ABF-2157ED0DE27C}"/>
              </a:ext>
            </a:extLst>
          </p:cNvPr>
          <p:cNvSpPr txBox="1"/>
          <p:nvPr/>
        </p:nvSpPr>
        <p:spPr>
          <a:xfrm>
            <a:off x="812800" y="3150483"/>
            <a:ext cx="9067799" cy="1200329"/>
          </a:xfrm>
          <a:prstGeom prst="rect">
            <a:avLst/>
          </a:prstGeom>
          <a:noFill/>
        </p:spPr>
        <p:txBody>
          <a:bodyPr wrap="square" rtlCol="0">
            <a:spAutoFit/>
          </a:bodyPr>
          <a:lstStyle/>
          <a:p>
            <a:pPr algn="ctr"/>
            <a:endParaRPr lang="en-US" sz="3600" b="1" dirty="0">
              <a:solidFill>
                <a:schemeClr val="bg1"/>
              </a:solidFill>
              <a:latin typeface="+mj-lt"/>
            </a:endParaRPr>
          </a:p>
          <a:p>
            <a:pPr algn="ctr"/>
            <a:endParaRPr lang="en-GB" sz="3600" b="1" dirty="0">
              <a:solidFill>
                <a:schemeClr val="bg1"/>
              </a:solidFill>
              <a:latin typeface="+mj-lt"/>
            </a:endParaRPr>
          </a:p>
        </p:txBody>
      </p:sp>
      <p:sp>
        <p:nvSpPr>
          <p:cNvPr id="6" name="TextBox 2">
            <a:extLst>
              <a:ext uri="{FF2B5EF4-FFF2-40B4-BE49-F238E27FC236}">
                <a16:creationId xmlns:a16="http://schemas.microsoft.com/office/drawing/2014/main" id="{7B15C11B-36AE-6545-B639-B7EB140C1EB2}"/>
              </a:ext>
            </a:extLst>
          </p:cNvPr>
          <p:cNvSpPr txBox="1"/>
          <p:nvPr/>
        </p:nvSpPr>
        <p:spPr>
          <a:xfrm>
            <a:off x="698500" y="3248025"/>
            <a:ext cx="9067799" cy="2554545"/>
          </a:xfrm>
          <a:prstGeom prst="rect">
            <a:avLst/>
          </a:prstGeom>
          <a:noFill/>
        </p:spPr>
        <p:txBody>
          <a:bodyPr wrap="square" rtlCol="0">
            <a:spAutoFit/>
          </a:bodyPr>
          <a:lstStyle/>
          <a:p>
            <a:pPr algn="ctr"/>
            <a:r>
              <a:rPr lang="en-GB" sz="4000" b="1" dirty="0" err="1">
                <a:solidFill>
                  <a:schemeClr val="bg1"/>
                </a:solidFill>
                <a:latin typeface="NEUZEIT GROTESK LIGHT" pitchFamily="2" charset="77"/>
              </a:rPr>
              <a:t>SkLearn</a:t>
            </a:r>
            <a:r>
              <a:rPr lang="en-GB" sz="4000" b="1">
                <a:solidFill>
                  <a:schemeClr val="bg1"/>
                </a:solidFill>
                <a:latin typeface="NEUZEIT GROTESK LIGHT" pitchFamily="2" charset="77"/>
              </a:rPr>
              <a:t> Datasets</a:t>
            </a:r>
          </a:p>
          <a:p>
            <a:pPr algn="ctr"/>
            <a:endParaRPr lang="en-GB" sz="4000" b="1" dirty="0">
              <a:solidFill>
                <a:schemeClr val="bg1"/>
              </a:solidFill>
              <a:latin typeface="NEUZEIT GROTESK LIGHT" pitchFamily="2" charset="77"/>
            </a:endParaRPr>
          </a:p>
          <a:p>
            <a:pPr algn="ctr"/>
            <a:endParaRPr lang="en-US" sz="4000" b="1" dirty="0">
              <a:solidFill>
                <a:schemeClr val="bg1"/>
              </a:solidFill>
              <a:latin typeface="NEUZEIT GROTESK LIGHT" pitchFamily="2" charset="77"/>
            </a:endParaRPr>
          </a:p>
          <a:p>
            <a:pPr algn="ctr"/>
            <a:endParaRPr lang="en-GB" sz="4000" b="1" dirty="0">
              <a:solidFill>
                <a:schemeClr val="bg1"/>
              </a:solidFill>
              <a:latin typeface="NEUZEIT GROTESK LIGHT" pitchFamily="2" charset="77"/>
            </a:endParaRPr>
          </a:p>
        </p:txBody>
      </p:sp>
    </p:spTree>
    <p:extLst>
      <p:ext uri="{BB962C8B-B14F-4D97-AF65-F5344CB8AC3E}">
        <p14:creationId xmlns:p14="http://schemas.microsoft.com/office/powerpoint/2010/main" val="2555867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04D29A-93DA-374B-8E93-6C70E4F4EE0B}"/>
              </a:ext>
            </a:extLst>
          </p:cNvPr>
          <p:cNvSpPr/>
          <p:nvPr/>
        </p:nvSpPr>
        <p:spPr>
          <a:xfrm>
            <a:off x="1460500" y="2028825"/>
            <a:ext cx="7772400" cy="3416320"/>
          </a:xfrm>
          <a:prstGeom prst="rect">
            <a:avLst/>
          </a:prstGeom>
        </p:spPr>
        <p:txBody>
          <a:bodyPr wrap="square">
            <a:spAutoFit/>
          </a:bodyPr>
          <a:lstStyle/>
          <a:p>
            <a:pPr algn="ctr">
              <a:lnSpc>
                <a:spcPct val="150000"/>
              </a:lnSpc>
            </a:pPr>
            <a:r>
              <a:rPr lang="en-GB" sz="3200" b="1" u="sng" dirty="0">
                <a:solidFill>
                  <a:schemeClr val="bg1"/>
                </a:solidFill>
                <a:latin typeface="Neuzeit Grotesk" pitchFamily="2" charset="77"/>
              </a:rPr>
              <a:t>Outline:</a:t>
            </a:r>
          </a:p>
          <a:p>
            <a:pPr marL="514350" indent="-514350" algn="l" fontAlgn="base">
              <a:buAutoNum type="arabicPeriod"/>
            </a:pPr>
            <a:endParaRPr lang="en-GB" sz="2800" u="sng" dirty="0">
              <a:solidFill>
                <a:schemeClr val="bg1"/>
              </a:solidFill>
              <a:latin typeface="Neuzeit Grotesk Light" pitchFamily="2" charset="77"/>
              <a:ea typeface="+mn-ea"/>
              <a:cs typeface="+mn-cs"/>
            </a:endParaRPr>
          </a:p>
          <a:p>
            <a:pPr marL="514350" indent="-514350" algn="l" fontAlgn="base">
              <a:buAutoNum type="arabicPeriod"/>
            </a:pPr>
            <a:r>
              <a:rPr lang="en-GB" sz="2800" b="1" dirty="0" err="1">
                <a:solidFill>
                  <a:schemeClr val="bg1"/>
                </a:solidFill>
                <a:latin typeface="Neuzeit Grotesk" pitchFamily="2" charset="77"/>
              </a:rPr>
              <a:t>Sklearn</a:t>
            </a:r>
            <a:r>
              <a:rPr lang="en-GB" sz="2800" b="1" dirty="0">
                <a:solidFill>
                  <a:schemeClr val="bg1"/>
                </a:solidFill>
                <a:latin typeface="Neuzeit Grotesk" pitchFamily="2" charset="77"/>
              </a:rPr>
              <a:t> Datasets</a:t>
            </a:r>
          </a:p>
          <a:p>
            <a:pPr marL="514350" indent="-514350" algn="l" fontAlgn="base">
              <a:buAutoNum type="arabicPeriod"/>
            </a:pPr>
            <a:endParaRPr lang="en-GB" sz="2800" b="1" dirty="0">
              <a:solidFill>
                <a:schemeClr val="bg1"/>
              </a:solidFill>
              <a:latin typeface="Neuzeit Grotesk" pitchFamily="2" charset="77"/>
            </a:endParaRPr>
          </a:p>
          <a:p>
            <a:pPr marL="514350" indent="-514350" algn="l" fontAlgn="base">
              <a:buAutoNum type="arabicPeriod"/>
            </a:pPr>
            <a:r>
              <a:rPr lang="en-GB" sz="2800" b="1" dirty="0">
                <a:solidFill>
                  <a:schemeClr val="bg1"/>
                </a:solidFill>
                <a:latin typeface="Neuzeit Grotesk" pitchFamily="2" charset="77"/>
              </a:rPr>
              <a:t>Description of IRIS Plant Datasets</a:t>
            </a:r>
          </a:p>
          <a:p>
            <a:pPr marL="514350" indent="-514350" algn="l" fontAlgn="base">
              <a:buAutoNum type="arabicPeriod"/>
            </a:pPr>
            <a:endParaRPr lang="en-GB" sz="2800" b="1" dirty="0">
              <a:solidFill>
                <a:schemeClr val="bg1"/>
              </a:solidFill>
              <a:latin typeface="Neuzeit Grotesk" pitchFamily="2" charset="77"/>
            </a:endParaRPr>
          </a:p>
          <a:p>
            <a:r>
              <a:rPr lang="de-DE" sz="2800" kern="0" dirty="0">
                <a:solidFill>
                  <a:schemeClr val="bg1"/>
                </a:solidFill>
                <a:latin typeface="Neuzeit Grotesk Light" pitchFamily="2" charset="77"/>
                <a:ea typeface="+mn-ea"/>
                <a:cs typeface="+mn-cs"/>
              </a:rPr>
              <a:t>3</a:t>
            </a:r>
            <a:r>
              <a:rPr lang="de-DE" sz="2800" b="1" dirty="0">
                <a:solidFill>
                  <a:schemeClr val="bg1"/>
                </a:solidFill>
                <a:latin typeface="Neuzeit Grotesk" pitchFamily="2" charset="77"/>
              </a:rPr>
              <a:t>. </a:t>
            </a:r>
            <a:r>
              <a:rPr lang="en-GB" sz="2800" b="1" dirty="0">
                <a:solidFill>
                  <a:schemeClr val="bg1"/>
                </a:solidFill>
                <a:latin typeface="Neuzeit Grotesk" pitchFamily="2" charset="77"/>
              </a:rPr>
              <a:t> Description of Diabetes Dataset</a:t>
            </a:r>
          </a:p>
        </p:txBody>
      </p:sp>
    </p:spTree>
    <p:extLst>
      <p:ext uri="{BB962C8B-B14F-4D97-AF65-F5344CB8AC3E}">
        <p14:creationId xmlns:p14="http://schemas.microsoft.com/office/powerpoint/2010/main" val="267004900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a:t>
            </a:r>
            <a:r>
              <a:rPr lang="de-DE" sz="3200" u="sng" dirty="0" err="1">
                <a:solidFill>
                  <a:schemeClr val="bg1"/>
                </a:solidFill>
                <a:latin typeface="Neuzeit Grotesk Light" pitchFamily="2" charset="77"/>
                <a:ea typeface="+mn-ea"/>
                <a:cs typeface="+mn-cs"/>
              </a:rPr>
              <a:t>Sklearn</a:t>
            </a:r>
            <a:r>
              <a:rPr lang="de-DE" sz="3200" u="sng" dirty="0">
                <a:solidFill>
                  <a:schemeClr val="bg1"/>
                </a:solidFill>
                <a:latin typeface="Neuzeit Grotesk Light" pitchFamily="2" charset="77"/>
                <a:ea typeface="+mn-ea"/>
                <a:cs typeface="+mn-cs"/>
              </a:rPr>
              <a:t> Datasets</a:t>
            </a:r>
            <a:br>
              <a:rPr lang="en-GB"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904944" y="1784607"/>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As mentioned in previous lessons, scikit-learn comes with a few small standard datasets that do not require to download any file from some external website.</a:t>
            </a:r>
          </a:p>
          <a:p>
            <a:r>
              <a:rPr lang="en-GB" sz="2800" dirty="0">
                <a:solidFill>
                  <a:schemeClr val="bg1"/>
                </a:solidFill>
                <a:latin typeface="Neuzeit Grotesk Light" pitchFamily="2" charset="77"/>
              </a:rPr>
              <a:t>They can be loaded using the following functions:</a:t>
            </a:r>
          </a:p>
        </p:txBody>
      </p:sp>
      <p:pic>
        <p:nvPicPr>
          <p:cNvPr id="5" name="Picture 4">
            <a:extLst>
              <a:ext uri="{FF2B5EF4-FFF2-40B4-BE49-F238E27FC236}">
                <a16:creationId xmlns:a16="http://schemas.microsoft.com/office/drawing/2014/main" id="{980CF611-3AE9-3708-D3B6-DF9BD84ADF89}"/>
              </a:ext>
            </a:extLst>
          </p:cNvPr>
          <p:cNvPicPr>
            <a:picLocks noChangeAspect="1"/>
          </p:cNvPicPr>
          <p:nvPr/>
        </p:nvPicPr>
        <p:blipFill>
          <a:blip r:embed="rId2"/>
          <a:stretch>
            <a:fillRect/>
          </a:stretch>
        </p:blipFill>
        <p:spPr>
          <a:xfrm>
            <a:off x="564730" y="4237587"/>
            <a:ext cx="9563939" cy="2034690"/>
          </a:xfrm>
          <a:prstGeom prst="rect">
            <a:avLst/>
          </a:prstGeom>
        </p:spPr>
      </p:pic>
      <p:sp>
        <p:nvSpPr>
          <p:cNvPr id="8" name="TextBox 7">
            <a:extLst>
              <a:ext uri="{FF2B5EF4-FFF2-40B4-BE49-F238E27FC236}">
                <a16:creationId xmlns:a16="http://schemas.microsoft.com/office/drawing/2014/main" id="{926C0AD5-F5D0-7E6D-3BB0-3FC688A03A94}"/>
              </a:ext>
            </a:extLst>
          </p:cNvPr>
          <p:cNvSpPr txBox="1"/>
          <p:nvPr/>
        </p:nvSpPr>
        <p:spPr>
          <a:xfrm>
            <a:off x="565398" y="6829425"/>
            <a:ext cx="9756850" cy="523220"/>
          </a:xfrm>
          <a:prstGeom prst="rect">
            <a:avLst/>
          </a:prstGeom>
          <a:noFill/>
        </p:spPr>
        <p:txBody>
          <a:bodyPr wrap="square">
            <a:spAutoFit/>
          </a:bodyPr>
          <a:lstStyle/>
          <a:p>
            <a:r>
              <a:rPr lang="en-GB" sz="2800" dirty="0">
                <a:solidFill>
                  <a:schemeClr val="bg1"/>
                </a:solidFill>
                <a:latin typeface="Neuzeit Grotesk Light" pitchFamily="2" charset="77"/>
              </a:rPr>
              <a:t>https://scikit-learn.org/stable/datasets/toy_dataset.html</a:t>
            </a:r>
          </a:p>
        </p:txBody>
      </p:sp>
    </p:spTree>
    <p:extLst>
      <p:ext uri="{BB962C8B-B14F-4D97-AF65-F5344CB8AC3E}">
        <p14:creationId xmlns:p14="http://schemas.microsoft.com/office/powerpoint/2010/main" val="72771671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8915400" cy="3539430"/>
          </a:xfrm>
          <a:prstGeom prst="rect">
            <a:avLst/>
          </a:prstGeom>
          <a:noFill/>
        </p:spPr>
        <p:txBody>
          <a:bodyPr wrap="square">
            <a:spAutoFit/>
          </a:bodyPr>
          <a:lstStyle/>
          <a:p>
            <a:r>
              <a:rPr lang="en-GB" sz="2800" dirty="0">
                <a:solidFill>
                  <a:schemeClr val="bg1"/>
                </a:solidFill>
                <a:latin typeface="Neuzeit Grotesk Light" pitchFamily="2" charset="77"/>
              </a:rPr>
              <a:t>The Iris dataset contains the measurements of 150 iris flowers from 3 different species:</a:t>
            </a:r>
          </a:p>
          <a:p>
            <a:endParaRPr lang="en-GB" sz="2800" dirty="0">
              <a:solidFill>
                <a:schemeClr val="bg1"/>
              </a:solidFill>
              <a:latin typeface="Neuzeit Grotesk Light" pitchFamily="2" charset="77"/>
            </a:endParaRPr>
          </a:p>
          <a:p>
            <a:pPr marL="1371600" lvl="2" indent="-457200">
              <a:buFont typeface="Wingdings" panose="05000000000000000000" pitchFamily="2" charset="2"/>
              <a:buChar char="§"/>
            </a:pPr>
            <a:r>
              <a:rPr lang="en-GB" sz="2800" dirty="0">
                <a:solidFill>
                  <a:schemeClr val="bg1"/>
                </a:solidFill>
                <a:latin typeface="Neuzeit Grotesk Light" pitchFamily="2" charset="77"/>
              </a:rPr>
              <a:t>Iris-</a:t>
            </a:r>
            <a:r>
              <a:rPr lang="en-GB" sz="2800" dirty="0" err="1">
                <a:solidFill>
                  <a:schemeClr val="bg1"/>
                </a:solidFill>
                <a:latin typeface="Neuzeit Grotesk Light" pitchFamily="2" charset="77"/>
              </a:rPr>
              <a:t>Setosa</a:t>
            </a:r>
            <a:r>
              <a:rPr lang="en-GB" sz="2800" dirty="0">
                <a:solidFill>
                  <a:schemeClr val="bg1"/>
                </a:solidFill>
                <a:latin typeface="Neuzeit Grotesk Light" pitchFamily="2" charset="77"/>
              </a:rPr>
              <a:t>, </a:t>
            </a:r>
          </a:p>
          <a:p>
            <a:pPr marL="1371600" lvl="2" indent="-457200">
              <a:buFont typeface="Wingdings" panose="05000000000000000000" pitchFamily="2" charset="2"/>
              <a:buChar char="§"/>
            </a:pPr>
            <a:endParaRPr lang="en-GB" sz="2800" dirty="0">
              <a:solidFill>
                <a:schemeClr val="bg1"/>
              </a:solidFill>
              <a:latin typeface="Neuzeit Grotesk Light" pitchFamily="2" charset="77"/>
            </a:endParaRPr>
          </a:p>
          <a:p>
            <a:pPr marL="1371600" lvl="2" indent="-457200">
              <a:buFont typeface="Wingdings" panose="05000000000000000000" pitchFamily="2" charset="2"/>
              <a:buChar char="§"/>
            </a:pPr>
            <a:r>
              <a:rPr lang="en-GB" sz="2800" dirty="0">
                <a:solidFill>
                  <a:schemeClr val="bg1"/>
                </a:solidFill>
                <a:latin typeface="Neuzeit Grotesk Light" pitchFamily="2" charset="77"/>
              </a:rPr>
              <a:t>Iris-Versicolor</a:t>
            </a:r>
          </a:p>
          <a:p>
            <a:pPr marL="1371600" lvl="2" indent="-457200">
              <a:buFont typeface="Wingdings" panose="05000000000000000000" pitchFamily="2" charset="2"/>
              <a:buChar char="§"/>
            </a:pPr>
            <a:endParaRPr lang="en-GB" sz="2800" dirty="0">
              <a:solidFill>
                <a:schemeClr val="bg1"/>
              </a:solidFill>
              <a:latin typeface="Neuzeit Grotesk Light" pitchFamily="2" charset="77"/>
            </a:endParaRPr>
          </a:p>
          <a:p>
            <a:pPr marL="1371600" lvl="2" indent="-457200">
              <a:buFont typeface="Wingdings" panose="05000000000000000000" pitchFamily="2" charset="2"/>
              <a:buChar char="§"/>
            </a:pPr>
            <a:r>
              <a:rPr lang="en-GB" sz="2800" dirty="0">
                <a:solidFill>
                  <a:schemeClr val="bg1"/>
                </a:solidFill>
                <a:latin typeface="Neuzeit Grotesk Light" pitchFamily="2" charset="77"/>
              </a:rPr>
              <a:t>Iris-Virginica.</a:t>
            </a:r>
          </a:p>
        </p:txBody>
      </p:sp>
    </p:spTree>
    <p:extLst>
      <p:ext uri="{BB962C8B-B14F-4D97-AF65-F5344CB8AC3E}">
        <p14:creationId xmlns:p14="http://schemas.microsoft.com/office/powerpoint/2010/main" val="23397749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969770"/>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dirty="0">
                <a:solidFill>
                  <a:schemeClr val="bg1"/>
                </a:solidFill>
                <a:latin typeface="Neuzeit Grotesk Light" pitchFamily="2" charset="77"/>
              </a:rPr>
            </a:br>
            <a:br>
              <a:rPr lang="en-GB"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GB" sz="2800" dirty="0">
                <a:solidFill>
                  <a:schemeClr val="bg1"/>
                </a:solidFill>
                <a:latin typeface="Neuzeit Grotesk Light" pitchFamily="2" charset="77"/>
              </a:rPr>
              <a:t>These datasets are useful to quickly illustrate the </a:t>
            </a:r>
            <a:r>
              <a:rPr lang="en-GB" sz="2800" dirty="0" err="1">
                <a:solidFill>
                  <a:schemeClr val="bg1"/>
                </a:solidFill>
                <a:latin typeface="Neuzeit Grotesk Light" pitchFamily="2" charset="77"/>
              </a:rPr>
              <a:t>behavior</a:t>
            </a:r>
            <a:r>
              <a:rPr lang="en-GB" sz="2800" dirty="0">
                <a:solidFill>
                  <a:schemeClr val="bg1"/>
                </a:solidFill>
                <a:latin typeface="Neuzeit Grotesk Light" pitchFamily="2" charset="77"/>
              </a:rPr>
              <a:t> of the various algorithms implemented in scikit-learn. </a:t>
            </a:r>
          </a:p>
        </p:txBody>
      </p:sp>
    </p:spTree>
    <p:extLst>
      <p:ext uri="{BB962C8B-B14F-4D97-AF65-F5344CB8AC3E}">
        <p14:creationId xmlns:p14="http://schemas.microsoft.com/office/powerpoint/2010/main" val="4848244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A4B771D5-522A-B87B-DE4E-2972FB8A713A}"/>
              </a:ext>
            </a:extLst>
          </p:cNvPr>
          <p:cNvPicPr>
            <a:picLocks noChangeAspect="1"/>
          </p:cNvPicPr>
          <p:nvPr/>
        </p:nvPicPr>
        <p:blipFill>
          <a:blip r:embed="rId2"/>
          <a:stretch>
            <a:fillRect/>
          </a:stretch>
        </p:blipFill>
        <p:spPr>
          <a:xfrm>
            <a:off x="622300" y="2762912"/>
            <a:ext cx="8229737" cy="3731900"/>
          </a:xfrm>
          <a:prstGeom prst="rect">
            <a:avLst/>
          </a:prstGeom>
        </p:spPr>
      </p:pic>
    </p:spTree>
    <p:extLst>
      <p:ext uri="{BB962C8B-B14F-4D97-AF65-F5344CB8AC3E}">
        <p14:creationId xmlns:p14="http://schemas.microsoft.com/office/powerpoint/2010/main" val="30702572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3A9B7799-9E68-B78A-3BE0-F27351D42B12}"/>
              </a:ext>
            </a:extLst>
          </p:cNvPr>
          <p:cNvPicPr>
            <a:picLocks noChangeAspect="1"/>
          </p:cNvPicPr>
          <p:nvPr/>
        </p:nvPicPr>
        <p:blipFill>
          <a:blip r:embed="rId2"/>
          <a:stretch>
            <a:fillRect/>
          </a:stretch>
        </p:blipFill>
        <p:spPr>
          <a:xfrm>
            <a:off x="622300" y="2637183"/>
            <a:ext cx="8458200" cy="4457016"/>
          </a:xfrm>
          <a:prstGeom prst="rect">
            <a:avLst/>
          </a:prstGeom>
        </p:spPr>
      </p:pic>
    </p:spTree>
    <p:extLst>
      <p:ext uri="{BB962C8B-B14F-4D97-AF65-F5344CB8AC3E}">
        <p14:creationId xmlns:p14="http://schemas.microsoft.com/office/powerpoint/2010/main" val="5039494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1938E9A3-2CD1-BB4D-2A36-DCACA173A45D}"/>
              </a:ext>
            </a:extLst>
          </p:cNvPr>
          <p:cNvPicPr>
            <a:picLocks noChangeAspect="1"/>
          </p:cNvPicPr>
          <p:nvPr/>
        </p:nvPicPr>
        <p:blipFill>
          <a:blip r:embed="rId2"/>
          <a:stretch>
            <a:fillRect/>
          </a:stretch>
        </p:blipFill>
        <p:spPr>
          <a:xfrm>
            <a:off x="1460500" y="2760432"/>
            <a:ext cx="6096000" cy="4638435"/>
          </a:xfrm>
          <a:prstGeom prst="rect">
            <a:avLst/>
          </a:prstGeom>
        </p:spPr>
      </p:pic>
      <p:sp>
        <p:nvSpPr>
          <p:cNvPr id="9" name="TextBox 8">
            <a:extLst>
              <a:ext uri="{FF2B5EF4-FFF2-40B4-BE49-F238E27FC236}">
                <a16:creationId xmlns:a16="http://schemas.microsoft.com/office/drawing/2014/main" id="{850E2C3D-BD04-39CB-3F63-FD715F9A3DF6}"/>
              </a:ext>
            </a:extLst>
          </p:cNvPr>
          <p:cNvSpPr txBox="1"/>
          <p:nvPr/>
        </p:nvSpPr>
        <p:spPr>
          <a:xfrm>
            <a:off x="622300" y="2203281"/>
            <a:ext cx="5396162" cy="523220"/>
          </a:xfrm>
          <a:prstGeom prst="rect">
            <a:avLst/>
          </a:prstGeom>
          <a:noFill/>
        </p:spPr>
        <p:txBody>
          <a:bodyPr wrap="square">
            <a:spAutoFit/>
          </a:bodyPr>
          <a:lstStyle/>
          <a:p>
            <a:r>
              <a:rPr lang="en-GB" sz="2800" dirty="0">
                <a:solidFill>
                  <a:schemeClr val="bg1"/>
                </a:solidFill>
                <a:latin typeface="Neuzeit Grotesk Light" pitchFamily="2" charset="77"/>
              </a:rPr>
              <a:t>Iris Virginica</a:t>
            </a:r>
          </a:p>
        </p:txBody>
      </p:sp>
    </p:spTree>
    <p:extLst>
      <p:ext uri="{BB962C8B-B14F-4D97-AF65-F5344CB8AC3E}">
        <p14:creationId xmlns:p14="http://schemas.microsoft.com/office/powerpoint/2010/main" val="2672685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969770"/>
          </a:xfrm>
        </p:spPr>
        <p:txBody>
          <a:body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dirty="0">
                <a:solidFill>
                  <a:schemeClr val="bg1"/>
                </a:solidFill>
                <a:latin typeface="Neuzeit Grotesk Light" pitchFamily="2" charset="77"/>
              </a:rPr>
            </a:br>
            <a:br>
              <a:rPr lang="en-GB"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GB" sz="2800" dirty="0">
                <a:solidFill>
                  <a:schemeClr val="bg1"/>
                </a:solidFill>
                <a:latin typeface="Neuzeit Grotesk Light" pitchFamily="2" charset="77"/>
              </a:rPr>
              <a:t>These datasets are useful to quickly illustrate the </a:t>
            </a:r>
            <a:r>
              <a:rPr lang="en-GB" sz="2800" dirty="0" err="1">
                <a:solidFill>
                  <a:schemeClr val="bg1"/>
                </a:solidFill>
                <a:latin typeface="Neuzeit Grotesk Light" pitchFamily="2" charset="77"/>
              </a:rPr>
              <a:t>behavior</a:t>
            </a:r>
            <a:r>
              <a:rPr lang="en-GB" sz="2800" dirty="0">
                <a:solidFill>
                  <a:schemeClr val="bg1"/>
                </a:solidFill>
                <a:latin typeface="Neuzeit Grotesk Light" pitchFamily="2" charset="77"/>
              </a:rPr>
              <a:t> of the various algorithms implemented in scikit-learn. </a:t>
            </a:r>
          </a:p>
        </p:txBody>
      </p:sp>
      <p:pic>
        <p:nvPicPr>
          <p:cNvPr id="5" name="Picture 4">
            <a:extLst>
              <a:ext uri="{FF2B5EF4-FFF2-40B4-BE49-F238E27FC236}">
                <a16:creationId xmlns:a16="http://schemas.microsoft.com/office/drawing/2014/main" id="{AFB72036-8DA7-913A-299C-3946D93FFE2E}"/>
              </a:ext>
            </a:extLst>
          </p:cNvPr>
          <p:cNvPicPr>
            <a:picLocks noChangeAspect="1"/>
          </p:cNvPicPr>
          <p:nvPr/>
        </p:nvPicPr>
        <p:blipFill>
          <a:blip r:embed="rId2"/>
          <a:stretch>
            <a:fillRect/>
          </a:stretch>
        </p:blipFill>
        <p:spPr>
          <a:xfrm>
            <a:off x="546100" y="4080443"/>
            <a:ext cx="8245555" cy="3261643"/>
          </a:xfrm>
          <a:prstGeom prst="rect">
            <a:avLst/>
          </a:prstGeom>
        </p:spPr>
      </p:pic>
    </p:spTree>
    <p:extLst>
      <p:ext uri="{BB962C8B-B14F-4D97-AF65-F5344CB8AC3E}">
        <p14:creationId xmlns:p14="http://schemas.microsoft.com/office/powerpoint/2010/main" val="29217675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1E460590-C5FE-A2FE-CAFA-9CBC8E0CD18B}"/>
              </a:ext>
            </a:extLst>
          </p:cNvPr>
          <p:cNvPicPr>
            <a:picLocks noChangeAspect="1"/>
          </p:cNvPicPr>
          <p:nvPr/>
        </p:nvPicPr>
        <p:blipFill>
          <a:blip r:embed="rId2"/>
          <a:stretch>
            <a:fillRect/>
          </a:stretch>
        </p:blipFill>
        <p:spPr>
          <a:xfrm>
            <a:off x="393700" y="2730898"/>
            <a:ext cx="9129551" cy="4427604"/>
          </a:xfrm>
          <a:prstGeom prst="rect">
            <a:avLst/>
          </a:prstGeom>
        </p:spPr>
      </p:pic>
      <p:sp>
        <p:nvSpPr>
          <p:cNvPr id="11" name="Title 1">
            <a:extLst>
              <a:ext uri="{FF2B5EF4-FFF2-40B4-BE49-F238E27FC236}">
                <a16:creationId xmlns:a16="http://schemas.microsoft.com/office/drawing/2014/main" id="{4BD3C07C-1FA7-8953-310D-314C441839E7}"/>
              </a:ext>
            </a:extLst>
          </p:cNvPr>
          <p:cNvSpPr txBox="1">
            <a:spLocks/>
          </p:cNvSpPr>
          <p:nvPr/>
        </p:nvSpPr>
        <p:spPr>
          <a:xfrm>
            <a:off x="161850" y="1249173"/>
            <a:ext cx="10337800" cy="1969770"/>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kern="0" dirty="0">
                <a:solidFill>
                  <a:schemeClr val="bg1"/>
                </a:solidFill>
                <a:latin typeface="Neuzeit Grotesk Light" pitchFamily="2" charset="77"/>
              </a:rPr>
            </a:br>
            <a:br>
              <a:rPr lang="en-GB" sz="3200" kern="0" dirty="0">
                <a:solidFill>
                  <a:schemeClr val="bg1"/>
                </a:solidFill>
                <a:latin typeface="Neuzeit Grotesk" pitchFamily="2" charset="77"/>
              </a:rPr>
            </a:br>
            <a:br>
              <a:rPr lang="en-GB" sz="3200" u="sng" kern="0" dirty="0">
                <a:solidFill>
                  <a:schemeClr val="bg1"/>
                </a:solidFill>
                <a:latin typeface="Neuzeit Grotesk Light" pitchFamily="2" charset="77"/>
                <a:ea typeface="+mn-ea"/>
                <a:cs typeface="+mn-cs"/>
              </a:rPr>
            </a:br>
            <a:endParaRPr lang="de-DE" sz="3200" u="sng" kern="0" dirty="0">
              <a:solidFill>
                <a:schemeClr val="bg1"/>
              </a:solidFill>
              <a:latin typeface="Neuzeit Grotesk Light" pitchFamily="2" charset="77"/>
              <a:ea typeface="+mn-ea"/>
              <a:cs typeface="+mn-cs"/>
            </a:endParaRPr>
          </a:p>
        </p:txBody>
      </p:sp>
    </p:spTree>
    <p:extLst>
      <p:ext uri="{BB962C8B-B14F-4D97-AF65-F5344CB8AC3E}">
        <p14:creationId xmlns:p14="http://schemas.microsoft.com/office/powerpoint/2010/main" val="29185086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428B2A64-7B79-2AA6-55C8-69FC9B7A9674}"/>
              </a:ext>
            </a:extLst>
          </p:cNvPr>
          <p:cNvSpPr txBox="1"/>
          <p:nvPr/>
        </p:nvSpPr>
        <p:spPr>
          <a:xfrm>
            <a:off x="238718" y="2028825"/>
            <a:ext cx="9603782" cy="3539430"/>
          </a:xfrm>
          <a:prstGeom prst="rect">
            <a:avLst/>
          </a:prstGeom>
          <a:noFill/>
        </p:spPr>
        <p:txBody>
          <a:bodyPr wrap="square">
            <a:spAutoFit/>
          </a:bodyPr>
          <a:lstStyle/>
          <a:p>
            <a:pPr algn="l"/>
            <a:r>
              <a:rPr lang="en-GB" sz="2800" dirty="0">
                <a:solidFill>
                  <a:schemeClr val="bg1"/>
                </a:solidFill>
                <a:latin typeface="Neuzeit Grotesk Light" pitchFamily="2" charset="77"/>
              </a:rPr>
              <a:t>The famous Iris database, first used by Sir R.A. Fisher.</a:t>
            </a:r>
          </a:p>
          <a:p>
            <a:pPr algn="l"/>
            <a:endParaRPr lang="en-GB" sz="2800" dirty="0">
              <a:solidFill>
                <a:schemeClr val="bg1"/>
              </a:solidFill>
              <a:latin typeface="Neuzeit Grotesk Light" pitchFamily="2" charset="77"/>
            </a:endParaRP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The dataset is taken from Fisher’s paper.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Note that it’s the same as in R, but not as in the UCI Machine Learning Repository, which has two wrong data points</a:t>
            </a:r>
          </a:p>
          <a:p>
            <a:pPr algn="l"/>
            <a:r>
              <a:rPr lang="en-GB" sz="2800" dirty="0">
                <a:solidFill>
                  <a:schemeClr val="bg1"/>
                </a:solidFill>
                <a:latin typeface="Neuzeit Grotesk Light" pitchFamily="2" charset="77"/>
              </a:rPr>
              <a:t>.</a:t>
            </a: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1477328"/>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kern="0" dirty="0">
                <a:solidFill>
                  <a:schemeClr val="bg1"/>
                </a:solidFill>
                <a:latin typeface="Neuzeit Grotesk Light" pitchFamily="2" charset="77"/>
              </a:rPr>
            </a:br>
            <a:br>
              <a:rPr lang="en-GB" sz="3200" u="sng" kern="0" dirty="0">
                <a:solidFill>
                  <a:schemeClr val="bg1"/>
                </a:solidFill>
                <a:latin typeface="Neuzeit Grotesk Light" pitchFamily="2" charset="77"/>
                <a:ea typeface="+mn-ea"/>
                <a:cs typeface="+mn-cs"/>
              </a:rPr>
            </a:br>
            <a:endParaRPr lang="de-DE" sz="3200" u="sng" kern="0" dirty="0">
              <a:solidFill>
                <a:schemeClr val="bg1"/>
              </a:solidFill>
              <a:latin typeface="Neuzeit Grotesk Light" pitchFamily="2" charset="77"/>
              <a:ea typeface="+mn-ea"/>
              <a:cs typeface="+mn-cs"/>
            </a:endParaRPr>
          </a:p>
        </p:txBody>
      </p:sp>
    </p:spTree>
    <p:extLst>
      <p:ext uri="{BB962C8B-B14F-4D97-AF65-F5344CB8AC3E}">
        <p14:creationId xmlns:p14="http://schemas.microsoft.com/office/powerpoint/2010/main" val="7428101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428B2A64-7B79-2AA6-55C8-69FC9B7A9674}"/>
              </a:ext>
            </a:extLst>
          </p:cNvPr>
          <p:cNvSpPr txBox="1"/>
          <p:nvPr/>
        </p:nvSpPr>
        <p:spPr>
          <a:xfrm>
            <a:off x="238718" y="2028825"/>
            <a:ext cx="9603782" cy="4832092"/>
          </a:xfrm>
          <a:prstGeom prst="rect">
            <a:avLst/>
          </a:prstGeom>
          <a:noFill/>
        </p:spPr>
        <p:txBody>
          <a:bodyPr wrap="square">
            <a:spAutoFit/>
          </a:bodyPr>
          <a:lstStyle/>
          <a:p>
            <a:pPr algn="l"/>
            <a:r>
              <a:rPr lang="en-GB" sz="2800" dirty="0">
                <a:solidFill>
                  <a:schemeClr val="bg1"/>
                </a:solidFill>
                <a:latin typeface="Neuzeit Grotesk Light" pitchFamily="2" charset="77"/>
              </a:rPr>
              <a:t>This is perhaps the best known database to be found in the pattern recognition literature.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Fisher’s paper is a classic in the field and is referenced frequently to this day. (See </a:t>
            </a:r>
            <a:r>
              <a:rPr lang="en-GB" sz="2800" dirty="0" err="1">
                <a:solidFill>
                  <a:schemeClr val="bg1"/>
                </a:solidFill>
                <a:latin typeface="Neuzeit Grotesk Light" pitchFamily="2" charset="77"/>
              </a:rPr>
              <a:t>Duda</a:t>
            </a:r>
            <a:r>
              <a:rPr lang="en-GB" sz="2800" dirty="0">
                <a:solidFill>
                  <a:schemeClr val="bg1"/>
                </a:solidFill>
                <a:latin typeface="Neuzeit Grotesk Light" pitchFamily="2" charset="77"/>
              </a:rPr>
              <a:t> &amp; Hart, for example.)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The data set contains 3 classes of 50 instances each, where each class refers to a type of iris plant.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One class is linearly separable from the other 2; the latter are NOT linearly separable from each other.</a:t>
            </a: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1477328"/>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pPr algn="l"/>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IRIS Plants Dataset</a:t>
            </a:r>
            <a:br>
              <a:rPr lang="en-GB" sz="3200" kern="0" dirty="0">
                <a:solidFill>
                  <a:schemeClr val="bg1"/>
                </a:solidFill>
                <a:latin typeface="Neuzeit Grotesk Light" pitchFamily="2" charset="77"/>
              </a:rPr>
            </a:br>
            <a:br>
              <a:rPr lang="en-GB" sz="3200" u="sng" kern="0" dirty="0">
                <a:solidFill>
                  <a:schemeClr val="bg1"/>
                </a:solidFill>
                <a:latin typeface="Neuzeit Grotesk Light" pitchFamily="2" charset="77"/>
                <a:ea typeface="+mn-ea"/>
                <a:cs typeface="+mn-cs"/>
              </a:rPr>
            </a:br>
            <a:endParaRPr lang="de-DE" sz="3200" u="sng" kern="0" dirty="0">
              <a:solidFill>
                <a:schemeClr val="bg1"/>
              </a:solidFill>
              <a:latin typeface="Neuzeit Grotesk Light" pitchFamily="2" charset="77"/>
              <a:ea typeface="+mn-ea"/>
              <a:cs typeface="+mn-cs"/>
            </a:endParaRPr>
          </a:p>
        </p:txBody>
      </p:sp>
    </p:spTree>
    <p:extLst>
      <p:ext uri="{BB962C8B-B14F-4D97-AF65-F5344CB8AC3E}">
        <p14:creationId xmlns:p14="http://schemas.microsoft.com/office/powerpoint/2010/main" val="10033752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428B2A64-7B79-2AA6-55C8-69FC9B7A9674}"/>
              </a:ext>
            </a:extLst>
          </p:cNvPr>
          <p:cNvSpPr txBox="1"/>
          <p:nvPr/>
        </p:nvSpPr>
        <p:spPr>
          <a:xfrm>
            <a:off x="885449" y="2693691"/>
            <a:ext cx="9603782" cy="2677656"/>
          </a:xfrm>
          <a:prstGeom prst="rect">
            <a:avLst/>
          </a:prstGeom>
          <a:noFill/>
        </p:spPr>
        <p:txBody>
          <a:bodyPr wrap="square">
            <a:spAutoFit/>
          </a:bodyPr>
          <a:lstStyle/>
          <a:p>
            <a:r>
              <a:rPr lang="en-GB" sz="2800" dirty="0">
                <a:solidFill>
                  <a:schemeClr val="bg1"/>
                </a:solidFill>
                <a:latin typeface="Neuzeit Grotesk Light" pitchFamily="2" charset="77"/>
              </a:rPr>
              <a:t>Ten baseline variables, age, sex, body mass index, average blood pressure, and six blood serum measurements were obtained for each of n = 442 diabetes patients, as well as the response of interest, a quantitative measure of disease progression one year after baseline.</a:t>
            </a:r>
          </a:p>
          <a:p>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spTree>
    <p:extLst>
      <p:ext uri="{BB962C8B-B14F-4D97-AF65-F5344CB8AC3E}">
        <p14:creationId xmlns:p14="http://schemas.microsoft.com/office/powerpoint/2010/main" val="23550297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428B2A64-7B79-2AA6-55C8-69FC9B7A9674}"/>
              </a:ext>
            </a:extLst>
          </p:cNvPr>
          <p:cNvSpPr txBox="1"/>
          <p:nvPr/>
        </p:nvSpPr>
        <p:spPr>
          <a:xfrm>
            <a:off x="885449" y="2693691"/>
            <a:ext cx="9603782" cy="954107"/>
          </a:xfrm>
          <a:prstGeom prst="rect">
            <a:avLst/>
          </a:prstGeom>
          <a:noFill/>
        </p:spPr>
        <p:txBody>
          <a:bodyPr wrap="square">
            <a:spAutoFit/>
          </a:bodyPr>
          <a:lstStyle/>
          <a:p>
            <a:r>
              <a:rPr lang="en-GB" sz="2800" dirty="0">
                <a:solidFill>
                  <a:schemeClr val="bg1"/>
                </a:solidFill>
                <a:latin typeface="Neuzeit Grotesk Light" pitchFamily="2" charset="77"/>
              </a:rPr>
              <a:t>as well as the response of interest, a quantitative measure of disease progression one year after baseline.</a:t>
            </a: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spTree>
    <p:extLst>
      <p:ext uri="{BB962C8B-B14F-4D97-AF65-F5344CB8AC3E}">
        <p14:creationId xmlns:p14="http://schemas.microsoft.com/office/powerpoint/2010/main" val="29421110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61850" y="2169350"/>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pic>
        <p:nvPicPr>
          <p:cNvPr id="3" name="Picture 2">
            <a:extLst>
              <a:ext uri="{FF2B5EF4-FFF2-40B4-BE49-F238E27FC236}">
                <a16:creationId xmlns:a16="http://schemas.microsoft.com/office/drawing/2014/main" id="{EE036E19-F5B0-1AF1-9147-A1D1833B261F}"/>
              </a:ext>
            </a:extLst>
          </p:cNvPr>
          <p:cNvPicPr>
            <a:picLocks noChangeAspect="1"/>
          </p:cNvPicPr>
          <p:nvPr/>
        </p:nvPicPr>
        <p:blipFill>
          <a:blip r:embed="rId2"/>
          <a:stretch>
            <a:fillRect/>
          </a:stretch>
        </p:blipFill>
        <p:spPr>
          <a:xfrm>
            <a:off x="469900" y="2409825"/>
            <a:ext cx="8362363" cy="3096902"/>
          </a:xfrm>
          <a:prstGeom prst="rect">
            <a:avLst/>
          </a:prstGeom>
        </p:spPr>
      </p:pic>
    </p:spTree>
    <p:extLst>
      <p:ext uri="{BB962C8B-B14F-4D97-AF65-F5344CB8AC3E}">
        <p14:creationId xmlns:p14="http://schemas.microsoft.com/office/powerpoint/2010/main" val="930875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58508" y="2192254"/>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pic>
        <p:nvPicPr>
          <p:cNvPr id="5" name="Picture 4">
            <a:extLst>
              <a:ext uri="{FF2B5EF4-FFF2-40B4-BE49-F238E27FC236}">
                <a16:creationId xmlns:a16="http://schemas.microsoft.com/office/drawing/2014/main" id="{CBA89462-461C-A248-E9E2-34357C8A8D49}"/>
              </a:ext>
            </a:extLst>
          </p:cNvPr>
          <p:cNvPicPr>
            <a:picLocks noChangeAspect="1"/>
          </p:cNvPicPr>
          <p:nvPr/>
        </p:nvPicPr>
        <p:blipFill>
          <a:blip r:embed="rId2"/>
          <a:stretch>
            <a:fillRect/>
          </a:stretch>
        </p:blipFill>
        <p:spPr>
          <a:xfrm>
            <a:off x="393699" y="2554498"/>
            <a:ext cx="9580793" cy="2774295"/>
          </a:xfrm>
          <a:prstGeom prst="rect">
            <a:avLst/>
          </a:prstGeom>
        </p:spPr>
      </p:pic>
    </p:spTree>
    <p:extLst>
      <p:ext uri="{BB962C8B-B14F-4D97-AF65-F5344CB8AC3E}">
        <p14:creationId xmlns:p14="http://schemas.microsoft.com/office/powerpoint/2010/main" val="2002334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58508" y="2192254"/>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sp>
        <p:nvSpPr>
          <p:cNvPr id="2" name="Rectangle 1">
            <a:extLst>
              <a:ext uri="{FF2B5EF4-FFF2-40B4-BE49-F238E27FC236}">
                <a16:creationId xmlns:a16="http://schemas.microsoft.com/office/drawing/2014/main" id="{36B7F03C-785B-E9AE-1B67-B2BD382BBFEA}"/>
              </a:ext>
            </a:extLst>
          </p:cNvPr>
          <p:cNvSpPr>
            <a:spLocks noChangeArrowheads="1"/>
          </p:cNvSpPr>
          <p:nvPr/>
        </p:nvSpPr>
        <p:spPr bwMode="auto">
          <a:xfrm>
            <a:off x="32753" y="3495160"/>
            <a:ext cx="10337800"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latin typeface="Neuzeit Grotesk Light" pitchFamily="2" charset="77"/>
              </a:rPr>
              <a:t>Note: Each of these 10 feature variables have been mean centered and scaled by the standard deviation times the square root of </a:t>
            </a:r>
            <a:r>
              <a:rPr lang="en-US" altLang="en-US" sz="2800" dirty="0" err="1">
                <a:latin typeface="Neuzeit Grotesk Light" pitchFamily="2" charset="77"/>
              </a:rPr>
              <a:t>n_samples</a:t>
            </a:r>
            <a:r>
              <a:rPr lang="en-US" altLang="en-US" sz="2800" dirty="0">
                <a:latin typeface="Neuzeit Grotesk Light" pitchFamily="2" charset="77"/>
              </a:rPr>
              <a:t> (i.e. the sum of squares of each column totals 1).</a:t>
            </a:r>
          </a:p>
        </p:txBody>
      </p:sp>
    </p:spTree>
    <p:extLst>
      <p:ext uri="{BB962C8B-B14F-4D97-AF65-F5344CB8AC3E}">
        <p14:creationId xmlns:p14="http://schemas.microsoft.com/office/powerpoint/2010/main" val="1828838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58508" y="2192254"/>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sp>
        <p:nvSpPr>
          <p:cNvPr id="5" name="TextBox 4">
            <a:extLst>
              <a:ext uri="{FF2B5EF4-FFF2-40B4-BE49-F238E27FC236}">
                <a16:creationId xmlns:a16="http://schemas.microsoft.com/office/drawing/2014/main" id="{B9A82F06-EF94-2CD6-55EB-91E5BDC6C376}"/>
              </a:ext>
            </a:extLst>
          </p:cNvPr>
          <p:cNvSpPr txBox="1"/>
          <p:nvPr/>
        </p:nvSpPr>
        <p:spPr>
          <a:xfrm>
            <a:off x="469900" y="2616629"/>
            <a:ext cx="8842783" cy="35394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chemeClr val="bg1"/>
                </a:solidFill>
                <a:latin typeface="Neuzeit Grotesk Light" pitchFamily="2" charset="77"/>
              </a:rPr>
              <a:t>Source URL: </a:t>
            </a:r>
            <a:r>
              <a:rPr lang="en-US" altLang="en-US" sz="2800" dirty="0">
                <a:solidFill>
                  <a:schemeClr val="bg1"/>
                </a:solidFill>
                <a:latin typeface="Neuzeit Grotesk Light" pitchFamily="2" charset="77"/>
                <a:hlinkClick r:id="rId2">
                  <a:extLst>
                    <a:ext uri="{A12FA001-AC4F-418D-AE19-62706E023703}">
                      <ahyp:hlinkClr xmlns:ahyp="http://schemas.microsoft.com/office/drawing/2018/hyperlinkcolor" val="tx"/>
                    </a:ext>
                  </a:extLst>
                </a:hlinkClick>
              </a:rPr>
              <a:t>https://www4.stat.ncsu.edu/~boos/var.select/diabetes.html</a:t>
            </a:r>
            <a:endParaRPr lang="en-US" altLang="en-US" sz="2800" dirty="0">
              <a:solidFill>
                <a:schemeClr val="bg1"/>
              </a:solidFill>
              <a:latin typeface="Neuzeit Grotesk Light"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chemeClr val="bg1"/>
                </a:solidFill>
                <a:latin typeface="Neuzeit Grotesk Light" pitchFamily="2" charset="77"/>
              </a:rPr>
              <a:t>For more information see: Bradley </a:t>
            </a:r>
            <a:r>
              <a:rPr lang="en-US" altLang="en-US" sz="2800" dirty="0" err="1">
                <a:solidFill>
                  <a:schemeClr val="bg1"/>
                </a:solidFill>
                <a:latin typeface="Neuzeit Grotesk Light" pitchFamily="2" charset="77"/>
              </a:rPr>
              <a:t>Efron</a:t>
            </a:r>
            <a:r>
              <a:rPr lang="en-US" altLang="en-US" sz="2800" dirty="0">
                <a:solidFill>
                  <a:schemeClr val="bg1"/>
                </a:solidFill>
                <a:latin typeface="Neuzeit Grotesk Light" pitchFamily="2" charset="77"/>
              </a:rPr>
              <a:t>, Trevor Hastie, Iain Johnstone and Robert </a:t>
            </a:r>
            <a:r>
              <a:rPr lang="en-US" altLang="en-US" sz="2800" dirty="0" err="1">
                <a:solidFill>
                  <a:schemeClr val="bg1"/>
                </a:solidFill>
                <a:latin typeface="Neuzeit Grotesk Light" pitchFamily="2" charset="77"/>
              </a:rPr>
              <a:t>Tibshirani</a:t>
            </a:r>
            <a:r>
              <a:rPr lang="en-US" altLang="en-US" sz="2800" dirty="0">
                <a:solidFill>
                  <a:schemeClr val="bg1"/>
                </a:solidFill>
                <a:latin typeface="Neuzeit Grotesk Light" pitchFamily="2" charset="77"/>
              </a:rPr>
              <a:t> (2004) “Least Angle Regression,” Annals of Statistics (with discussion), 407-499. (</a:t>
            </a:r>
            <a:r>
              <a:rPr lang="en-US" altLang="en-US" sz="2800" dirty="0">
                <a:solidFill>
                  <a:schemeClr val="bg1"/>
                </a:solidFill>
                <a:latin typeface="Neuzeit Grotesk Light" pitchFamily="2" charset="77"/>
                <a:hlinkClick r:id="rId3">
                  <a:extLst>
                    <a:ext uri="{A12FA001-AC4F-418D-AE19-62706E023703}">
                      <ahyp:hlinkClr xmlns:ahyp="http://schemas.microsoft.com/office/drawing/2018/hyperlinkcolor" val="tx"/>
                    </a:ext>
                  </a:extLst>
                </a:hlinkClick>
              </a:rPr>
              <a:t>https://web.stanford.edu/~hastie/Papers/LARS/LeastAngle_2002.pdf</a:t>
            </a:r>
            <a:r>
              <a:rPr lang="en-US" altLang="en-US" sz="2800" dirty="0">
                <a:solidFill>
                  <a:schemeClr val="bg1"/>
                </a:solidFill>
                <a:latin typeface="Neuzeit Grotesk Light" pitchFamily="2" charset="77"/>
              </a:rPr>
              <a:t>)</a:t>
            </a:r>
          </a:p>
        </p:txBody>
      </p:sp>
    </p:spTree>
    <p:extLst>
      <p:ext uri="{BB962C8B-B14F-4D97-AF65-F5344CB8AC3E}">
        <p14:creationId xmlns:p14="http://schemas.microsoft.com/office/powerpoint/2010/main" val="13209015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158508" y="2192254"/>
            <a:ext cx="922305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GB" sz="2800" dirty="0">
              <a:solidFill>
                <a:schemeClr val="bg1"/>
              </a:solidFill>
              <a:latin typeface="Neuzeit Grotesk Light" pitchFamily="2" charset="77"/>
            </a:endParaRPr>
          </a:p>
        </p:txBody>
      </p:sp>
      <p:sp>
        <p:nvSpPr>
          <p:cNvPr id="11" name="Title 1">
            <a:extLst>
              <a:ext uri="{FF2B5EF4-FFF2-40B4-BE49-F238E27FC236}">
                <a16:creationId xmlns:a16="http://schemas.microsoft.com/office/drawing/2014/main" id="{EB1DBB6E-0991-B3F5-52C7-99B3362FF0BE}"/>
              </a:ext>
            </a:extLst>
          </p:cNvPr>
          <p:cNvSpPr txBox="1">
            <a:spLocks/>
          </p:cNvSpPr>
          <p:nvPr/>
        </p:nvSpPr>
        <p:spPr>
          <a:xfrm>
            <a:off x="161850" y="1249173"/>
            <a:ext cx="10337800" cy="984885"/>
          </a:xfrm>
          <a:prstGeom prst="rect">
            <a:avLst/>
          </a:prstGeom>
        </p:spPr>
        <p:txBody>
          <a:bodyPr wrap="square" lIns="0" tIns="0" rIns="0" bIns="0">
            <a:spAutoFit/>
          </a:bodyPr>
          <a:lstStyle>
            <a:lvl1pPr>
              <a:defRPr sz="8000" b="1" i="0">
                <a:solidFill>
                  <a:srgbClr val="FFAC29"/>
                </a:solidFill>
                <a:latin typeface="Neuzeit Grotesk"/>
                <a:ea typeface="+mj-ea"/>
                <a:cs typeface="Neuzeit Grotesk"/>
              </a:defRPr>
            </a:lvl1pPr>
          </a:lstStyle>
          <a:p>
            <a:r>
              <a:rPr lang="de-DE" sz="3200" u="sng" kern="0" dirty="0">
                <a:solidFill>
                  <a:schemeClr val="bg1"/>
                </a:solidFill>
                <a:latin typeface="Neuzeit Grotesk Light" pitchFamily="2" charset="77"/>
                <a:ea typeface="+mn-ea"/>
                <a:cs typeface="+mn-cs"/>
              </a:rPr>
              <a:t>3.</a:t>
            </a:r>
            <a:r>
              <a:rPr lang="en-GB" sz="800" b="0" i="0" dirty="0">
                <a:solidFill>
                  <a:srgbClr val="212529"/>
                </a:solidFill>
                <a:effectLst/>
                <a:latin typeface="-apple-system"/>
              </a:rPr>
              <a:t> </a:t>
            </a:r>
            <a:r>
              <a:rPr lang="en-GB" sz="3200" u="sng" kern="0" dirty="0">
                <a:solidFill>
                  <a:schemeClr val="bg1"/>
                </a:solidFill>
                <a:latin typeface="Neuzeit Grotesk Light" pitchFamily="2" charset="77"/>
                <a:ea typeface="+mn-ea"/>
                <a:cs typeface="+mn-cs"/>
              </a:rPr>
              <a:t>Diabetes Dataset</a:t>
            </a:r>
          </a:p>
          <a:p>
            <a:endParaRPr lang="de-DE" sz="3200" u="sng" kern="0" dirty="0">
              <a:solidFill>
                <a:schemeClr val="bg1"/>
              </a:solidFill>
              <a:latin typeface="Neuzeit Grotesk Light" pitchFamily="2" charset="77"/>
              <a:ea typeface="+mn-ea"/>
              <a:cs typeface="+mn-cs"/>
            </a:endParaRPr>
          </a:p>
        </p:txBody>
      </p:sp>
      <p:sp>
        <p:nvSpPr>
          <p:cNvPr id="3" name="TextBox 2">
            <a:extLst>
              <a:ext uri="{FF2B5EF4-FFF2-40B4-BE49-F238E27FC236}">
                <a16:creationId xmlns:a16="http://schemas.microsoft.com/office/drawing/2014/main" id="{EEF41E0D-46BD-DBA6-BD2B-045523843890}"/>
              </a:ext>
            </a:extLst>
          </p:cNvPr>
          <p:cNvSpPr txBox="1"/>
          <p:nvPr/>
        </p:nvSpPr>
        <p:spPr>
          <a:xfrm>
            <a:off x="913017" y="4743164"/>
            <a:ext cx="8835466" cy="1384995"/>
          </a:xfrm>
          <a:prstGeom prst="rect">
            <a:avLst/>
          </a:prstGeom>
          <a:noFill/>
        </p:spPr>
        <p:txBody>
          <a:bodyPr wrap="square">
            <a:spAutoFit/>
          </a:bodyPr>
          <a:lstStyle/>
          <a:p>
            <a:r>
              <a:rPr lang="en-GB" sz="2800" dirty="0">
                <a:solidFill>
                  <a:schemeClr val="bg1"/>
                </a:solidFill>
                <a:latin typeface="Neuzeit Grotesk Light" pitchFamily="2" charset="77"/>
              </a:rPr>
              <a:t>See  for description of other </a:t>
            </a:r>
            <a:r>
              <a:rPr lang="en-GB" sz="2800" dirty="0" err="1">
                <a:solidFill>
                  <a:schemeClr val="bg1"/>
                </a:solidFill>
                <a:latin typeface="Neuzeit Grotesk Light" pitchFamily="2" charset="77"/>
              </a:rPr>
              <a:t>Sklearn</a:t>
            </a:r>
            <a:r>
              <a:rPr lang="en-GB" sz="2800" dirty="0">
                <a:solidFill>
                  <a:schemeClr val="bg1"/>
                </a:solidFill>
                <a:latin typeface="Neuzeit Grotesk Light" pitchFamily="2" charset="77"/>
              </a:rPr>
              <a:t> datasets</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https://scikit-learn.org/stable/datasets/toy_dataset.html</a:t>
            </a:r>
          </a:p>
        </p:txBody>
      </p:sp>
    </p:spTree>
    <p:extLst>
      <p:ext uri="{BB962C8B-B14F-4D97-AF65-F5344CB8AC3E}">
        <p14:creationId xmlns:p14="http://schemas.microsoft.com/office/powerpoint/2010/main" val="5906365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04D29A-93DA-374B-8E93-6C70E4F4EE0B}"/>
              </a:ext>
            </a:extLst>
          </p:cNvPr>
          <p:cNvSpPr/>
          <p:nvPr/>
        </p:nvSpPr>
        <p:spPr>
          <a:xfrm>
            <a:off x="1460500" y="2028825"/>
            <a:ext cx="7772400" cy="3847207"/>
          </a:xfrm>
          <a:prstGeom prst="rect">
            <a:avLst/>
          </a:prstGeom>
        </p:spPr>
        <p:txBody>
          <a:bodyPr wrap="square">
            <a:spAutoFit/>
          </a:bodyPr>
          <a:lstStyle/>
          <a:p>
            <a:pPr algn="ctr">
              <a:lnSpc>
                <a:spcPct val="150000"/>
              </a:lnSpc>
            </a:pPr>
            <a:r>
              <a:rPr lang="en-GB" sz="3200" b="1" u="sng" dirty="0">
                <a:solidFill>
                  <a:schemeClr val="bg1"/>
                </a:solidFill>
                <a:latin typeface="Neuzeit Grotesk" pitchFamily="2" charset="77"/>
              </a:rPr>
              <a:t>Outline:</a:t>
            </a:r>
          </a:p>
          <a:p>
            <a:pPr marL="514350" indent="-514350" algn="l" fontAlgn="base">
              <a:buAutoNum type="arabicPeriod"/>
            </a:pPr>
            <a:endParaRPr lang="en-GB" sz="2800" u="sng" dirty="0">
              <a:solidFill>
                <a:schemeClr val="bg1"/>
              </a:solidFill>
              <a:latin typeface="Neuzeit Grotesk Light" pitchFamily="2" charset="77"/>
              <a:ea typeface="+mn-ea"/>
              <a:cs typeface="+mn-cs"/>
            </a:endParaRPr>
          </a:p>
          <a:p>
            <a:pPr marL="514350" indent="-514350" algn="l" fontAlgn="base">
              <a:buAutoNum type="arabicPeriod"/>
            </a:pPr>
            <a:r>
              <a:rPr lang="en-GB" sz="2800" b="1" dirty="0">
                <a:solidFill>
                  <a:schemeClr val="bg1"/>
                </a:solidFill>
                <a:latin typeface="Neuzeit Grotesk" pitchFamily="2" charset="77"/>
              </a:rPr>
              <a:t>Introduction</a:t>
            </a:r>
          </a:p>
          <a:p>
            <a:pPr marL="514350" indent="-514350" algn="l" fontAlgn="base">
              <a:buAutoNum type="arabicPeriod"/>
            </a:pPr>
            <a:endParaRPr lang="en-GB" sz="2800" b="1" dirty="0">
              <a:solidFill>
                <a:schemeClr val="bg1"/>
              </a:solidFill>
              <a:latin typeface="Neuzeit Grotesk" pitchFamily="2" charset="77"/>
            </a:endParaRPr>
          </a:p>
          <a:p>
            <a:pPr marL="514350" indent="-514350" algn="l" fontAlgn="base">
              <a:buAutoNum type="arabicPeriod"/>
            </a:pPr>
            <a:r>
              <a:rPr lang="en-GB" sz="2800" b="1" dirty="0">
                <a:solidFill>
                  <a:schemeClr val="bg1"/>
                </a:solidFill>
                <a:latin typeface="Neuzeit Grotesk" pitchFamily="2" charset="77"/>
              </a:rPr>
              <a:t>Scikit-learn and Loading Iris CSV file</a:t>
            </a:r>
            <a:br>
              <a:rPr lang="en-GB" sz="2800" b="1" dirty="0">
                <a:solidFill>
                  <a:schemeClr val="bg1"/>
                </a:solidFill>
                <a:latin typeface="Neuzeit Grotesk" pitchFamily="2" charset="77"/>
              </a:rPr>
            </a:br>
            <a:endParaRPr lang="en-GB" sz="2800" b="1" dirty="0">
              <a:solidFill>
                <a:schemeClr val="bg1"/>
              </a:solidFill>
              <a:latin typeface="Neuzeit Grotesk" pitchFamily="2" charset="77"/>
            </a:endParaRPr>
          </a:p>
          <a:p>
            <a:r>
              <a:rPr lang="de-DE" sz="2800" b="1" dirty="0">
                <a:solidFill>
                  <a:schemeClr val="bg1"/>
                </a:solidFill>
                <a:latin typeface="Neuzeit Grotesk" pitchFamily="2" charset="77"/>
              </a:rPr>
              <a:t>3.  </a:t>
            </a:r>
            <a:r>
              <a:rPr lang="de-DE" sz="2800" b="1" dirty="0" err="1">
                <a:solidFill>
                  <a:schemeClr val="bg1"/>
                </a:solidFill>
                <a:latin typeface="Neuzeit Grotesk" pitchFamily="2" charset="77"/>
              </a:rPr>
              <a:t>Printing</a:t>
            </a:r>
            <a:r>
              <a:rPr lang="de-DE" sz="2800" b="1" dirty="0">
                <a:solidFill>
                  <a:schemeClr val="bg1"/>
                </a:solidFill>
                <a:latin typeface="Neuzeit Grotesk" pitchFamily="2" charset="77"/>
              </a:rPr>
              <a:t> </a:t>
            </a:r>
            <a:r>
              <a:rPr lang="de-DE" sz="2800" b="1" dirty="0" err="1">
                <a:solidFill>
                  <a:schemeClr val="bg1"/>
                </a:solidFill>
                <a:latin typeface="Neuzeit Grotesk" pitchFamily="2" charset="77"/>
              </a:rPr>
              <a:t>the</a:t>
            </a:r>
            <a:r>
              <a:rPr lang="de-DE" sz="2800" b="1" dirty="0">
                <a:solidFill>
                  <a:schemeClr val="bg1"/>
                </a:solidFill>
                <a:latin typeface="Neuzeit Grotesk" pitchFamily="2" charset="77"/>
              </a:rPr>
              <a:t> Information About </a:t>
            </a:r>
            <a:r>
              <a:rPr lang="de-DE" sz="2800" b="1" dirty="0" err="1">
                <a:solidFill>
                  <a:schemeClr val="bg1"/>
                </a:solidFill>
                <a:latin typeface="Neuzeit Grotesk" pitchFamily="2" charset="77"/>
              </a:rPr>
              <a:t>the</a:t>
            </a:r>
            <a:r>
              <a:rPr lang="de-DE" sz="2800" b="1" dirty="0">
                <a:solidFill>
                  <a:schemeClr val="bg1"/>
                </a:solidFill>
                <a:latin typeface="Neuzeit Grotesk" pitchFamily="2" charset="77"/>
              </a:rPr>
              <a:t> Class</a:t>
            </a:r>
            <a:br>
              <a:rPr lang="en-GB" sz="2800" b="1" dirty="0">
                <a:solidFill>
                  <a:schemeClr val="bg1"/>
                </a:solidFill>
                <a:latin typeface="Neuzeit Grotesk" pitchFamily="2" charset="77"/>
              </a:rPr>
            </a:br>
            <a:endParaRPr lang="en-GB" sz="2800" b="1" dirty="0">
              <a:solidFill>
                <a:schemeClr val="bg1"/>
              </a:solidFill>
              <a:latin typeface="Neuzeit Grotesk" pitchFamily="2" charset="77"/>
            </a:endParaRPr>
          </a:p>
        </p:txBody>
      </p:sp>
    </p:spTree>
    <p:extLst>
      <p:ext uri="{BB962C8B-B14F-4D97-AF65-F5344CB8AC3E}">
        <p14:creationId xmlns:p14="http://schemas.microsoft.com/office/powerpoint/2010/main" val="25461282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a:t>
            </a:r>
            <a:r>
              <a:rPr lang="de-DE" sz="3200" u="sng" dirty="0" err="1">
                <a:solidFill>
                  <a:schemeClr val="bg1"/>
                </a:solidFill>
                <a:latin typeface="Neuzeit Grotesk Light" pitchFamily="2" charset="77"/>
                <a:ea typeface="+mn-ea"/>
                <a:cs typeface="+mn-cs"/>
              </a:rPr>
              <a:t>Introduction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4832092"/>
          </a:xfrm>
          <a:prstGeom prst="rect">
            <a:avLst/>
          </a:prstGeom>
          <a:noFill/>
        </p:spPr>
        <p:txBody>
          <a:bodyPr wrap="square">
            <a:spAutoFit/>
          </a:bodyPr>
          <a:lstStyle/>
          <a:p>
            <a:pPr algn="l"/>
            <a:r>
              <a:rPr lang="en-GB" sz="2800" dirty="0">
                <a:solidFill>
                  <a:schemeClr val="bg1"/>
                </a:solidFill>
                <a:latin typeface="Neuzeit Grotesk Light" pitchFamily="2" charset="77"/>
              </a:rPr>
              <a:t>Scikit-learn has a very straightforward set of data on these iris species.</a:t>
            </a:r>
          </a:p>
          <a:p>
            <a:pPr algn="l"/>
            <a:endParaRPr lang="en-GB" sz="2800" dirty="0">
              <a:solidFill>
                <a:schemeClr val="bg1"/>
              </a:solidFill>
              <a:latin typeface="Neuzeit Grotesk Light" pitchFamily="2" charset="77"/>
            </a:endParaRP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The data consist of the following: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Features in the Iris dataset: </a:t>
            </a:r>
          </a:p>
          <a:p>
            <a:pPr algn="l"/>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sepal length in cm </a:t>
            </a: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sepal width in cm</a:t>
            </a:r>
          </a:p>
        </p:txBody>
      </p:sp>
    </p:spTree>
    <p:extLst>
      <p:ext uri="{BB962C8B-B14F-4D97-AF65-F5344CB8AC3E}">
        <p14:creationId xmlns:p14="http://schemas.microsoft.com/office/powerpoint/2010/main" val="12724958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a:t>
            </a:r>
            <a:r>
              <a:rPr lang="de-DE" sz="3200" u="sng" dirty="0" err="1">
                <a:solidFill>
                  <a:schemeClr val="bg1"/>
                </a:solidFill>
                <a:latin typeface="Neuzeit Grotesk Light" pitchFamily="2" charset="77"/>
                <a:ea typeface="+mn-ea"/>
                <a:cs typeface="+mn-cs"/>
              </a:rPr>
              <a:t>Introduction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3970318"/>
          </a:xfrm>
          <a:prstGeom prst="rect">
            <a:avLst/>
          </a:prstGeom>
          <a:noFill/>
        </p:spPr>
        <p:txBody>
          <a:bodyPr wrap="square">
            <a:spAutoFit/>
          </a:bodyPr>
          <a:lstStyle/>
          <a:p>
            <a:pPr algn="l"/>
            <a:r>
              <a:rPr lang="en-GB" sz="2800" dirty="0">
                <a:solidFill>
                  <a:schemeClr val="bg1"/>
                </a:solidFill>
                <a:latin typeface="Neuzeit Grotesk Light" pitchFamily="2" charset="77"/>
              </a:rPr>
              <a:t>Scikit-learn has a very straightforward set of data on these iris species.</a:t>
            </a:r>
          </a:p>
          <a:p>
            <a:pPr algn="l"/>
            <a:endParaRPr lang="en-GB" sz="2800" dirty="0">
              <a:solidFill>
                <a:schemeClr val="bg1"/>
              </a:solidFill>
              <a:latin typeface="Neuzeit Grotesk Light" pitchFamily="2" charset="77"/>
            </a:endParaRP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The data consist of the following: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3. petal length in cm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4. petal width in cm</a:t>
            </a:r>
          </a:p>
        </p:txBody>
      </p:sp>
    </p:spTree>
    <p:extLst>
      <p:ext uri="{BB962C8B-B14F-4D97-AF65-F5344CB8AC3E}">
        <p14:creationId xmlns:p14="http://schemas.microsoft.com/office/powerpoint/2010/main" val="19577086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a:t>
            </a:r>
            <a:r>
              <a:rPr lang="de-DE" sz="3200" u="sng" dirty="0" err="1">
                <a:solidFill>
                  <a:schemeClr val="bg1"/>
                </a:solidFill>
                <a:latin typeface="Neuzeit Grotesk Light" pitchFamily="2" charset="77"/>
                <a:ea typeface="+mn-ea"/>
                <a:cs typeface="+mn-cs"/>
              </a:rPr>
              <a:t>Introduction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3970318"/>
          </a:xfrm>
          <a:prstGeom prst="rect">
            <a:avLst/>
          </a:prstGeom>
          <a:noFill/>
        </p:spPr>
        <p:txBody>
          <a:bodyPr wrap="square">
            <a:spAutoFit/>
          </a:bodyPr>
          <a:lstStyle/>
          <a:p>
            <a:pPr algn="l"/>
            <a:r>
              <a:rPr lang="en-GB" sz="2800" dirty="0">
                <a:solidFill>
                  <a:schemeClr val="bg1"/>
                </a:solidFill>
                <a:latin typeface="Neuzeit Grotesk Light" pitchFamily="2" charset="77"/>
              </a:rPr>
              <a:t>Target classes to predict: </a:t>
            </a:r>
          </a:p>
          <a:p>
            <a:pPr algn="l"/>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Iris </a:t>
            </a:r>
            <a:r>
              <a:rPr lang="en-GB" sz="2800" dirty="0" err="1">
                <a:solidFill>
                  <a:schemeClr val="bg1"/>
                </a:solidFill>
                <a:latin typeface="Neuzeit Grotesk Light" pitchFamily="2" charset="77"/>
              </a:rPr>
              <a:t>Setosa</a:t>
            </a:r>
            <a:r>
              <a:rPr lang="en-GB" sz="2800" dirty="0">
                <a:solidFill>
                  <a:schemeClr val="bg1"/>
                </a:solidFill>
                <a:latin typeface="Neuzeit Grotesk Light" pitchFamily="2" charset="77"/>
              </a:rPr>
              <a:t> </a:t>
            </a: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Iris Versicolour </a:t>
            </a: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Iris Virginica</a:t>
            </a:r>
          </a:p>
        </p:txBody>
      </p:sp>
    </p:spTree>
    <p:extLst>
      <p:ext uri="{BB962C8B-B14F-4D97-AF65-F5344CB8AC3E}">
        <p14:creationId xmlns:p14="http://schemas.microsoft.com/office/powerpoint/2010/main" val="10269793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a:t>
            </a:r>
            <a:r>
              <a:rPr lang="de-DE" sz="3200" u="sng" dirty="0" err="1">
                <a:solidFill>
                  <a:schemeClr val="bg1"/>
                </a:solidFill>
                <a:latin typeface="Neuzeit Grotesk Light" pitchFamily="2" charset="77"/>
                <a:ea typeface="+mn-ea"/>
                <a:cs typeface="+mn-cs"/>
              </a:rPr>
              <a:t>Introduction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1F240986-D7F4-45A6-E613-3375B1D1560F}"/>
              </a:ext>
            </a:extLst>
          </p:cNvPr>
          <p:cNvPicPr>
            <a:picLocks noChangeAspect="1"/>
          </p:cNvPicPr>
          <p:nvPr/>
        </p:nvPicPr>
        <p:blipFill>
          <a:blip r:embed="rId2"/>
          <a:stretch>
            <a:fillRect/>
          </a:stretch>
        </p:blipFill>
        <p:spPr>
          <a:xfrm>
            <a:off x="622300" y="2409825"/>
            <a:ext cx="6043184" cy="4458086"/>
          </a:xfrm>
          <a:prstGeom prst="rect">
            <a:avLst/>
          </a:prstGeom>
        </p:spPr>
      </p:pic>
    </p:spTree>
    <p:extLst>
      <p:ext uri="{BB962C8B-B14F-4D97-AF65-F5344CB8AC3E}">
        <p14:creationId xmlns:p14="http://schemas.microsoft.com/office/powerpoint/2010/main" val="31439552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E7853C13-DFD1-E3CC-C9BA-C5C59BF4AAB8}"/>
              </a:ext>
            </a:extLst>
          </p:cNvPr>
          <p:cNvPicPr>
            <a:picLocks noChangeAspect="1"/>
          </p:cNvPicPr>
          <p:nvPr/>
        </p:nvPicPr>
        <p:blipFill>
          <a:blip r:embed="rId2"/>
          <a:stretch>
            <a:fillRect/>
          </a:stretch>
        </p:blipFill>
        <p:spPr>
          <a:xfrm>
            <a:off x="469900" y="3629025"/>
            <a:ext cx="9607467" cy="1492976"/>
          </a:xfrm>
          <a:prstGeom prst="rect">
            <a:avLst/>
          </a:prstGeom>
        </p:spPr>
      </p:pic>
      <p:sp>
        <p:nvSpPr>
          <p:cNvPr id="8" name="TextBox 7">
            <a:extLst>
              <a:ext uri="{FF2B5EF4-FFF2-40B4-BE49-F238E27FC236}">
                <a16:creationId xmlns:a16="http://schemas.microsoft.com/office/drawing/2014/main" id="{48FCDBB8-A29F-86F4-CE66-CC9298D8D0D7}"/>
              </a:ext>
            </a:extLst>
          </p:cNvPr>
          <p:cNvSpPr txBox="1"/>
          <p:nvPr/>
        </p:nvSpPr>
        <p:spPr>
          <a:xfrm>
            <a:off x="469900" y="2483295"/>
            <a:ext cx="7915350" cy="523220"/>
          </a:xfrm>
          <a:prstGeom prst="rect">
            <a:avLst/>
          </a:prstGeom>
          <a:noFill/>
        </p:spPr>
        <p:txBody>
          <a:bodyPr wrap="square">
            <a:spAutoFit/>
          </a:bodyPr>
          <a:lstStyle/>
          <a:p>
            <a:r>
              <a:rPr lang="en-GB" sz="2800" dirty="0">
                <a:solidFill>
                  <a:schemeClr val="bg1"/>
                </a:solidFill>
                <a:latin typeface="Neuzeit Grotesk Light" pitchFamily="2" charset="77"/>
              </a:rPr>
              <a:t>Importing the library and loading the data</a:t>
            </a:r>
          </a:p>
        </p:txBody>
      </p:sp>
    </p:spTree>
    <p:extLst>
      <p:ext uri="{BB962C8B-B14F-4D97-AF65-F5344CB8AC3E}">
        <p14:creationId xmlns:p14="http://schemas.microsoft.com/office/powerpoint/2010/main" val="32887868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4F624105-E4CF-CA85-A060-A6A18A6C527F}"/>
              </a:ext>
            </a:extLst>
          </p:cNvPr>
          <p:cNvSpPr txBox="1"/>
          <p:nvPr/>
        </p:nvSpPr>
        <p:spPr>
          <a:xfrm>
            <a:off x="469900" y="2483295"/>
            <a:ext cx="7915350" cy="523220"/>
          </a:xfrm>
          <a:prstGeom prst="rect">
            <a:avLst/>
          </a:prstGeom>
          <a:noFill/>
        </p:spPr>
        <p:txBody>
          <a:bodyPr wrap="square">
            <a:spAutoFit/>
          </a:bodyPr>
          <a:lstStyle/>
          <a:p>
            <a:r>
              <a:rPr lang="en-GB" sz="2800" dirty="0">
                <a:solidFill>
                  <a:schemeClr val="bg1"/>
                </a:solidFill>
                <a:latin typeface="Neuzeit Grotesk Light" pitchFamily="2" charset="77"/>
              </a:rPr>
              <a:t>The resulting dataset is a Bunch object: </a:t>
            </a:r>
          </a:p>
        </p:txBody>
      </p:sp>
      <p:pic>
        <p:nvPicPr>
          <p:cNvPr id="9" name="Picture 8">
            <a:extLst>
              <a:ext uri="{FF2B5EF4-FFF2-40B4-BE49-F238E27FC236}">
                <a16:creationId xmlns:a16="http://schemas.microsoft.com/office/drawing/2014/main" id="{C7AE742E-FE5C-081A-5713-A32885B355AE}"/>
              </a:ext>
            </a:extLst>
          </p:cNvPr>
          <p:cNvPicPr>
            <a:picLocks noChangeAspect="1"/>
          </p:cNvPicPr>
          <p:nvPr/>
        </p:nvPicPr>
        <p:blipFill>
          <a:blip r:embed="rId2"/>
          <a:stretch>
            <a:fillRect/>
          </a:stretch>
        </p:blipFill>
        <p:spPr>
          <a:xfrm>
            <a:off x="602342" y="3705225"/>
            <a:ext cx="8935357" cy="1106796"/>
          </a:xfrm>
          <a:prstGeom prst="rect">
            <a:avLst/>
          </a:prstGeom>
        </p:spPr>
      </p:pic>
    </p:spTree>
    <p:extLst>
      <p:ext uri="{BB962C8B-B14F-4D97-AF65-F5344CB8AC3E}">
        <p14:creationId xmlns:p14="http://schemas.microsoft.com/office/powerpoint/2010/main" val="31090051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4F624105-E4CF-CA85-A060-A6A18A6C527F}"/>
              </a:ext>
            </a:extLst>
          </p:cNvPr>
          <p:cNvSpPr txBox="1"/>
          <p:nvPr/>
        </p:nvSpPr>
        <p:spPr>
          <a:xfrm>
            <a:off x="469900" y="2483295"/>
            <a:ext cx="7915350" cy="954107"/>
          </a:xfrm>
          <a:prstGeom prst="rect">
            <a:avLst/>
          </a:prstGeom>
          <a:noFill/>
        </p:spPr>
        <p:txBody>
          <a:bodyPr wrap="square">
            <a:spAutoFit/>
          </a:bodyPr>
          <a:lstStyle/>
          <a:p>
            <a:r>
              <a:rPr lang="en-GB" sz="2800" dirty="0">
                <a:solidFill>
                  <a:schemeClr val="bg1"/>
                </a:solidFill>
                <a:latin typeface="Neuzeit Grotesk Light" pitchFamily="2" charset="77"/>
              </a:rPr>
              <a:t>The features of each sample flower are stored in the data attribute of the dataset</a:t>
            </a:r>
          </a:p>
        </p:txBody>
      </p:sp>
      <p:pic>
        <p:nvPicPr>
          <p:cNvPr id="5" name="Picture 4">
            <a:extLst>
              <a:ext uri="{FF2B5EF4-FFF2-40B4-BE49-F238E27FC236}">
                <a16:creationId xmlns:a16="http://schemas.microsoft.com/office/drawing/2014/main" id="{EC9509F8-0AF8-E0B0-C104-767957AD2AF6}"/>
              </a:ext>
            </a:extLst>
          </p:cNvPr>
          <p:cNvPicPr>
            <a:picLocks noChangeAspect="1"/>
          </p:cNvPicPr>
          <p:nvPr/>
        </p:nvPicPr>
        <p:blipFill>
          <a:blip r:embed="rId2"/>
          <a:stretch>
            <a:fillRect/>
          </a:stretch>
        </p:blipFill>
        <p:spPr>
          <a:xfrm>
            <a:off x="541041" y="3922843"/>
            <a:ext cx="9001382" cy="1827013"/>
          </a:xfrm>
          <a:prstGeom prst="rect">
            <a:avLst/>
          </a:prstGeom>
        </p:spPr>
      </p:pic>
    </p:spTree>
    <p:extLst>
      <p:ext uri="{BB962C8B-B14F-4D97-AF65-F5344CB8AC3E}">
        <p14:creationId xmlns:p14="http://schemas.microsoft.com/office/powerpoint/2010/main" val="42218340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4F624105-E4CF-CA85-A060-A6A18A6C527F}"/>
              </a:ext>
            </a:extLst>
          </p:cNvPr>
          <p:cNvSpPr txBox="1"/>
          <p:nvPr/>
        </p:nvSpPr>
        <p:spPr>
          <a:xfrm>
            <a:off x="469900" y="2483295"/>
            <a:ext cx="7915350" cy="954107"/>
          </a:xfrm>
          <a:prstGeom prst="rect">
            <a:avLst/>
          </a:prstGeom>
          <a:noFill/>
        </p:spPr>
        <p:txBody>
          <a:bodyPr wrap="square">
            <a:spAutoFit/>
          </a:bodyPr>
          <a:lstStyle/>
          <a:p>
            <a:r>
              <a:rPr lang="en-GB" sz="2800" dirty="0">
                <a:solidFill>
                  <a:schemeClr val="bg1"/>
                </a:solidFill>
                <a:latin typeface="Neuzeit Grotesk Light" pitchFamily="2" charset="77"/>
              </a:rPr>
              <a:t>The features of each sample flower are stored in the data attribute of the dataset</a:t>
            </a:r>
          </a:p>
        </p:txBody>
      </p:sp>
      <p:pic>
        <p:nvPicPr>
          <p:cNvPr id="8" name="Picture 7">
            <a:extLst>
              <a:ext uri="{FF2B5EF4-FFF2-40B4-BE49-F238E27FC236}">
                <a16:creationId xmlns:a16="http://schemas.microsoft.com/office/drawing/2014/main" id="{DFADA19D-DEF2-E7C9-A11D-2F727A08563D}"/>
              </a:ext>
            </a:extLst>
          </p:cNvPr>
          <p:cNvPicPr>
            <a:picLocks noChangeAspect="1"/>
          </p:cNvPicPr>
          <p:nvPr/>
        </p:nvPicPr>
        <p:blipFill>
          <a:blip r:embed="rId2"/>
          <a:stretch>
            <a:fillRect/>
          </a:stretch>
        </p:blipFill>
        <p:spPr>
          <a:xfrm>
            <a:off x="602343" y="4125449"/>
            <a:ext cx="9779899" cy="984884"/>
          </a:xfrm>
          <a:prstGeom prst="rect">
            <a:avLst/>
          </a:prstGeom>
        </p:spPr>
      </p:pic>
    </p:spTree>
    <p:extLst>
      <p:ext uri="{BB962C8B-B14F-4D97-AF65-F5344CB8AC3E}">
        <p14:creationId xmlns:p14="http://schemas.microsoft.com/office/powerpoint/2010/main" val="26971254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4F624105-E4CF-CA85-A060-A6A18A6C527F}"/>
              </a:ext>
            </a:extLst>
          </p:cNvPr>
          <p:cNvSpPr txBox="1"/>
          <p:nvPr/>
        </p:nvSpPr>
        <p:spPr>
          <a:xfrm>
            <a:off x="469900" y="2483295"/>
            <a:ext cx="9372600" cy="1815882"/>
          </a:xfrm>
          <a:prstGeom prst="rect">
            <a:avLst/>
          </a:prstGeom>
          <a:noFill/>
        </p:spPr>
        <p:txBody>
          <a:bodyPr wrap="square">
            <a:spAutoFit/>
          </a:bodyPr>
          <a:lstStyle/>
          <a:p>
            <a:r>
              <a:rPr lang="en-GB" sz="2800" dirty="0">
                <a:solidFill>
                  <a:schemeClr val="bg1"/>
                </a:solidFill>
                <a:latin typeface="Neuzeit Grotesk Light" pitchFamily="2" charset="77"/>
              </a:rPr>
              <a:t>The </a:t>
            </a:r>
            <a:r>
              <a:rPr lang="en-GB" sz="2800" dirty="0" err="1">
                <a:solidFill>
                  <a:schemeClr val="bg1"/>
                </a:solidFill>
                <a:latin typeface="Neuzeit Grotesk Light" pitchFamily="2" charset="77"/>
              </a:rPr>
              <a:t>feautures</a:t>
            </a:r>
            <a:r>
              <a:rPr lang="en-GB" sz="2800" dirty="0">
                <a:solidFill>
                  <a:schemeClr val="bg1"/>
                </a:solidFill>
                <a:latin typeface="Neuzeit Grotesk Light" pitchFamily="2" charset="77"/>
              </a:rPr>
              <a:t> of each flower are stored in the data attribute of the data set.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Let's take a look at some of the samples:</a:t>
            </a:r>
          </a:p>
        </p:txBody>
      </p:sp>
      <p:pic>
        <p:nvPicPr>
          <p:cNvPr id="5" name="Picture 4">
            <a:extLst>
              <a:ext uri="{FF2B5EF4-FFF2-40B4-BE49-F238E27FC236}">
                <a16:creationId xmlns:a16="http://schemas.microsoft.com/office/drawing/2014/main" id="{D5BF978F-5A93-195A-375E-59C88F9B562F}"/>
              </a:ext>
            </a:extLst>
          </p:cNvPr>
          <p:cNvPicPr>
            <a:picLocks noChangeAspect="1"/>
          </p:cNvPicPr>
          <p:nvPr/>
        </p:nvPicPr>
        <p:blipFill>
          <a:blip r:embed="rId2"/>
          <a:stretch>
            <a:fillRect/>
          </a:stretch>
        </p:blipFill>
        <p:spPr>
          <a:xfrm>
            <a:off x="482600" y="4709593"/>
            <a:ext cx="8762607" cy="1019521"/>
          </a:xfrm>
          <a:prstGeom prst="rect">
            <a:avLst/>
          </a:prstGeom>
        </p:spPr>
      </p:pic>
    </p:spTree>
    <p:extLst>
      <p:ext uri="{BB962C8B-B14F-4D97-AF65-F5344CB8AC3E}">
        <p14:creationId xmlns:p14="http://schemas.microsoft.com/office/powerpoint/2010/main" val="22101711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a:t>
            </a:r>
            <a:r>
              <a:rPr lang="en-GB" sz="800" dirty="0"/>
              <a:t> </a:t>
            </a:r>
            <a:r>
              <a:rPr lang="en-GB" sz="3200" u="sng" dirty="0">
                <a:solidFill>
                  <a:schemeClr val="bg1"/>
                </a:solidFill>
                <a:latin typeface="Neuzeit Grotesk Light" pitchFamily="2" charset="77"/>
                <a:ea typeface="+mn-ea"/>
                <a:cs typeface="+mn-cs"/>
              </a:rPr>
              <a:t>Scikit-learn Loading Iris CSV file</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8" name="Picture 7">
            <a:extLst>
              <a:ext uri="{FF2B5EF4-FFF2-40B4-BE49-F238E27FC236}">
                <a16:creationId xmlns:a16="http://schemas.microsoft.com/office/drawing/2014/main" id="{C34A74A1-8C7B-3D13-776F-7004890B4539}"/>
              </a:ext>
            </a:extLst>
          </p:cNvPr>
          <p:cNvPicPr>
            <a:picLocks noChangeAspect="1"/>
          </p:cNvPicPr>
          <p:nvPr/>
        </p:nvPicPr>
        <p:blipFill>
          <a:blip r:embed="rId2"/>
          <a:stretch>
            <a:fillRect/>
          </a:stretch>
        </p:blipFill>
        <p:spPr>
          <a:xfrm>
            <a:off x="469900" y="3006515"/>
            <a:ext cx="9309011" cy="1384510"/>
          </a:xfrm>
          <a:prstGeom prst="rect">
            <a:avLst/>
          </a:prstGeom>
        </p:spPr>
      </p:pic>
    </p:spTree>
    <p:extLst>
      <p:ext uri="{BB962C8B-B14F-4D97-AF65-F5344CB8AC3E}">
        <p14:creationId xmlns:p14="http://schemas.microsoft.com/office/powerpoint/2010/main" val="20749863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AA17166C-E32A-1331-F94D-5F50B1FC0CA3}"/>
              </a:ext>
            </a:extLst>
          </p:cNvPr>
          <p:cNvPicPr>
            <a:picLocks noChangeAspect="1"/>
          </p:cNvPicPr>
          <p:nvPr/>
        </p:nvPicPr>
        <p:blipFill>
          <a:blip r:embed="rId2"/>
          <a:stretch>
            <a:fillRect/>
          </a:stretch>
        </p:blipFill>
        <p:spPr>
          <a:xfrm>
            <a:off x="317500" y="3312580"/>
            <a:ext cx="8199831" cy="3680779"/>
          </a:xfrm>
          <a:prstGeom prst="rect">
            <a:avLst/>
          </a:prstGeom>
        </p:spPr>
      </p:pic>
      <p:sp>
        <p:nvSpPr>
          <p:cNvPr id="6" name="TextBox 5">
            <a:extLst>
              <a:ext uri="{FF2B5EF4-FFF2-40B4-BE49-F238E27FC236}">
                <a16:creationId xmlns:a16="http://schemas.microsoft.com/office/drawing/2014/main" id="{8970C00C-AF2B-A510-B3BF-A456804ACAD6}"/>
              </a:ext>
            </a:extLst>
          </p:cNvPr>
          <p:cNvSpPr txBox="1"/>
          <p:nvPr/>
        </p:nvSpPr>
        <p:spPr>
          <a:xfrm>
            <a:off x="161850" y="1941670"/>
            <a:ext cx="9309011" cy="954107"/>
          </a:xfrm>
          <a:prstGeom prst="rect">
            <a:avLst/>
          </a:prstGeom>
          <a:noFill/>
        </p:spPr>
        <p:txBody>
          <a:bodyPr wrap="square">
            <a:spAutoFit/>
          </a:bodyPr>
          <a:lstStyle/>
          <a:p>
            <a:r>
              <a:rPr lang="en-GB" sz="2800" dirty="0">
                <a:solidFill>
                  <a:schemeClr val="bg1"/>
                </a:solidFill>
                <a:latin typeface="Neuzeit Grotesk Light" pitchFamily="2" charset="77"/>
              </a:rPr>
              <a:t>The information about the class of each sample, i.e. the labels, is stored in the "target" attribute of the data set</a:t>
            </a:r>
          </a:p>
        </p:txBody>
      </p:sp>
    </p:spTree>
    <p:extLst>
      <p:ext uri="{BB962C8B-B14F-4D97-AF65-F5344CB8AC3E}">
        <p14:creationId xmlns:p14="http://schemas.microsoft.com/office/powerpoint/2010/main" val="1961281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8970C00C-AF2B-A510-B3BF-A456804ACAD6}"/>
              </a:ext>
            </a:extLst>
          </p:cNvPr>
          <p:cNvSpPr txBox="1"/>
          <p:nvPr/>
        </p:nvSpPr>
        <p:spPr>
          <a:xfrm>
            <a:off x="161850" y="1941670"/>
            <a:ext cx="9309011" cy="954107"/>
          </a:xfrm>
          <a:prstGeom prst="rect">
            <a:avLst/>
          </a:prstGeom>
          <a:noFill/>
        </p:spPr>
        <p:txBody>
          <a:bodyPr wrap="square">
            <a:spAutoFit/>
          </a:bodyPr>
          <a:lstStyle/>
          <a:p>
            <a:r>
              <a:rPr lang="en-GB" sz="2800" dirty="0">
                <a:solidFill>
                  <a:schemeClr val="bg1"/>
                </a:solidFill>
                <a:latin typeface="Neuzeit Grotesk Light" pitchFamily="2" charset="77"/>
              </a:rPr>
              <a:t>The information about the class of each sample, i.e. the labels, is stored in the "target" attribute of the data set</a:t>
            </a:r>
          </a:p>
        </p:txBody>
      </p:sp>
      <p:pic>
        <p:nvPicPr>
          <p:cNvPr id="8" name="Picture 7">
            <a:extLst>
              <a:ext uri="{FF2B5EF4-FFF2-40B4-BE49-F238E27FC236}">
                <a16:creationId xmlns:a16="http://schemas.microsoft.com/office/drawing/2014/main" id="{347A3F4E-7D3F-93A8-B575-FF1D1DAB33B1}"/>
              </a:ext>
            </a:extLst>
          </p:cNvPr>
          <p:cNvPicPr>
            <a:picLocks noChangeAspect="1"/>
          </p:cNvPicPr>
          <p:nvPr/>
        </p:nvPicPr>
        <p:blipFill>
          <a:blip r:embed="rId2"/>
          <a:stretch>
            <a:fillRect/>
          </a:stretch>
        </p:blipFill>
        <p:spPr>
          <a:xfrm>
            <a:off x="317500" y="3310918"/>
            <a:ext cx="8009314" cy="1226926"/>
          </a:xfrm>
          <a:prstGeom prst="rect">
            <a:avLst/>
          </a:prstGeom>
        </p:spPr>
      </p:pic>
      <p:sp>
        <p:nvSpPr>
          <p:cNvPr id="10" name="TextBox 9">
            <a:extLst>
              <a:ext uri="{FF2B5EF4-FFF2-40B4-BE49-F238E27FC236}">
                <a16:creationId xmlns:a16="http://schemas.microsoft.com/office/drawing/2014/main" id="{EE93A2E0-1363-55FE-AE29-9A6C758F9B1B}"/>
              </a:ext>
            </a:extLst>
          </p:cNvPr>
          <p:cNvSpPr txBox="1"/>
          <p:nvPr/>
        </p:nvSpPr>
        <p:spPr>
          <a:xfrm>
            <a:off x="469900" y="4985422"/>
            <a:ext cx="9753600" cy="954107"/>
          </a:xfrm>
          <a:prstGeom prst="rect">
            <a:avLst/>
          </a:prstGeom>
          <a:noFill/>
        </p:spPr>
        <p:txBody>
          <a:bodyPr wrap="square">
            <a:spAutoFit/>
          </a:bodyPr>
          <a:lstStyle/>
          <a:p>
            <a:r>
              <a:rPr lang="en-GB" sz="2800" dirty="0">
                <a:solidFill>
                  <a:schemeClr val="bg1"/>
                </a:solidFill>
                <a:latin typeface="Neuzeit Grotesk Light" pitchFamily="2" charset="77"/>
              </a:rPr>
              <a:t>Using NumPy's </a:t>
            </a:r>
            <a:r>
              <a:rPr lang="en-GB" sz="2800" dirty="0" err="1">
                <a:solidFill>
                  <a:schemeClr val="bg1"/>
                </a:solidFill>
                <a:latin typeface="Neuzeit Grotesk Light" pitchFamily="2" charset="77"/>
              </a:rPr>
              <a:t>bincount</a:t>
            </a:r>
            <a:r>
              <a:rPr lang="en-GB" sz="2800" dirty="0">
                <a:solidFill>
                  <a:schemeClr val="bg1"/>
                </a:solidFill>
                <a:latin typeface="Neuzeit Grotesk Light" pitchFamily="2" charset="77"/>
              </a:rPr>
              <a:t> function (above) we can see that the classes in this dataset are evenly distributed -</a:t>
            </a:r>
          </a:p>
        </p:txBody>
      </p:sp>
    </p:spTree>
    <p:extLst>
      <p:ext uri="{BB962C8B-B14F-4D97-AF65-F5344CB8AC3E}">
        <p14:creationId xmlns:p14="http://schemas.microsoft.com/office/powerpoint/2010/main" val="8569072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10" name="TextBox 9">
            <a:extLst>
              <a:ext uri="{FF2B5EF4-FFF2-40B4-BE49-F238E27FC236}">
                <a16:creationId xmlns:a16="http://schemas.microsoft.com/office/drawing/2014/main" id="{EE93A2E0-1363-55FE-AE29-9A6C758F9B1B}"/>
              </a:ext>
            </a:extLst>
          </p:cNvPr>
          <p:cNvSpPr txBox="1"/>
          <p:nvPr/>
        </p:nvSpPr>
        <p:spPr>
          <a:xfrm>
            <a:off x="173793" y="2169350"/>
            <a:ext cx="9753600" cy="2246769"/>
          </a:xfrm>
          <a:prstGeom prst="rect">
            <a:avLst/>
          </a:prstGeom>
          <a:noFill/>
        </p:spPr>
        <p:txBody>
          <a:bodyPr wrap="square">
            <a:spAutoFit/>
          </a:bodyPr>
          <a:lstStyle/>
          <a:p>
            <a:r>
              <a:rPr lang="en-GB" sz="2800" dirty="0">
                <a:solidFill>
                  <a:schemeClr val="bg1"/>
                </a:solidFill>
                <a:latin typeface="Neuzeit Grotesk Light" pitchFamily="2" charset="77"/>
              </a:rPr>
              <a:t>There are 50 flowers of each species, with</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 • class 0: Iris </a:t>
            </a:r>
            <a:r>
              <a:rPr lang="en-GB" sz="2800" dirty="0" err="1">
                <a:solidFill>
                  <a:schemeClr val="bg1"/>
                </a:solidFill>
                <a:latin typeface="Neuzeit Grotesk Light" pitchFamily="2" charset="77"/>
              </a:rPr>
              <a:t>Setosa</a:t>
            </a:r>
            <a:r>
              <a:rPr lang="en-GB" sz="2800" dirty="0">
                <a:solidFill>
                  <a:schemeClr val="bg1"/>
                </a:solidFill>
                <a:latin typeface="Neuzeit Grotesk Light" pitchFamily="2" charset="77"/>
              </a:rPr>
              <a:t> </a:t>
            </a:r>
          </a:p>
          <a:p>
            <a:r>
              <a:rPr lang="en-GB" sz="2800" dirty="0">
                <a:solidFill>
                  <a:schemeClr val="bg1"/>
                </a:solidFill>
                <a:latin typeface="Neuzeit Grotesk Light" pitchFamily="2" charset="77"/>
              </a:rPr>
              <a:t>• class 1: Iris Versicolor </a:t>
            </a:r>
          </a:p>
          <a:p>
            <a:r>
              <a:rPr lang="en-GB" sz="2800" dirty="0">
                <a:solidFill>
                  <a:schemeClr val="bg1"/>
                </a:solidFill>
                <a:latin typeface="Neuzeit Grotesk Light" pitchFamily="2" charset="77"/>
              </a:rPr>
              <a:t>• class 2: Iris Virginica</a:t>
            </a:r>
          </a:p>
        </p:txBody>
      </p:sp>
      <p:sp>
        <p:nvSpPr>
          <p:cNvPr id="3" name="TextBox 2">
            <a:extLst>
              <a:ext uri="{FF2B5EF4-FFF2-40B4-BE49-F238E27FC236}">
                <a16:creationId xmlns:a16="http://schemas.microsoft.com/office/drawing/2014/main" id="{B0249934-76B7-208A-4738-3E38F9825F35}"/>
              </a:ext>
            </a:extLst>
          </p:cNvPr>
          <p:cNvSpPr txBox="1"/>
          <p:nvPr/>
        </p:nvSpPr>
        <p:spPr>
          <a:xfrm>
            <a:off x="317500" y="4521770"/>
            <a:ext cx="9753600" cy="954107"/>
          </a:xfrm>
          <a:prstGeom prst="rect">
            <a:avLst/>
          </a:prstGeom>
          <a:noFill/>
        </p:spPr>
        <p:txBody>
          <a:bodyPr wrap="square">
            <a:spAutoFit/>
          </a:bodyPr>
          <a:lstStyle/>
          <a:p>
            <a:r>
              <a:rPr lang="en-GB" sz="2800" dirty="0">
                <a:solidFill>
                  <a:schemeClr val="bg1"/>
                </a:solidFill>
                <a:latin typeface="Neuzeit Grotesk Light" pitchFamily="2" charset="77"/>
              </a:rPr>
              <a:t>These class names are stored in the last attribute, namely </a:t>
            </a:r>
            <a:r>
              <a:rPr lang="en-GB" sz="2800" dirty="0" err="1">
                <a:solidFill>
                  <a:schemeClr val="bg1"/>
                </a:solidFill>
                <a:latin typeface="Neuzeit Grotesk Light" pitchFamily="2" charset="77"/>
              </a:rPr>
              <a:t>target_names</a:t>
            </a:r>
            <a:r>
              <a:rPr lang="en-GB" sz="2800" dirty="0">
                <a:solidFill>
                  <a:schemeClr val="bg1"/>
                </a:solidFill>
                <a:latin typeface="Neuzeit Grotesk Light" pitchFamily="2" charset="77"/>
              </a:rPr>
              <a:t> :</a:t>
            </a:r>
          </a:p>
        </p:txBody>
      </p:sp>
      <p:pic>
        <p:nvPicPr>
          <p:cNvPr id="5" name="Picture 4">
            <a:extLst>
              <a:ext uri="{FF2B5EF4-FFF2-40B4-BE49-F238E27FC236}">
                <a16:creationId xmlns:a16="http://schemas.microsoft.com/office/drawing/2014/main" id="{2B743147-1CF2-3E6E-CFD3-8B356E781F89}"/>
              </a:ext>
            </a:extLst>
          </p:cNvPr>
          <p:cNvPicPr>
            <a:picLocks noChangeAspect="1"/>
          </p:cNvPicPr>
          <p:nvPr/>
        </p:nvPicPr>
        <p:blipFill>
          <a:blip r:embed="rId2"/>
          <a:stretch>
            <a:fillRect/>
          </a:stretch>
        </p:blipFill>
        <p:spPr>
          <a:xfrm>
            <a:off x="469900" y="6270616"/>
            <a:ext cx="8169348" cy="960203"/>
          </a:xfrm>
          <a:prstGeom prst="rect">
            <a:avLst/>
          </a:prstGeom>
        </p:spPr>
      </p:pic>
    </p:spTree>
    <p:extLst>
      <p:ext uri="{BB962C8B-B14F-4D97-AF65-F5344CB8AC3E}">
        <p14:creationId xmlns:p14="http://schemas.microsoft.com/office/powerpoint/2010/main" val="20107289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6" name="TextBox 5">
            <a:extLst>
              <a:ext uri="{FF2B5EF4-FFF2-40B4-BE49-F238E27FC236}">
                <a16:creationId xmlns:a16="http://schemas.microsoft.com/office/drawing/2014/main" id="{8970C00C-AF2B-A510-B3BF-A456804ACAD6}"/>
              </a:ext>
            </a:extLst>
          </p:cNvPr>
          <p:cNvSpPr txBox="1"/>
          <p:nvPr/>
        </p:nvSpPr>
        <p:spPr>
          <a:xfrm>
            <a:off x="161850" y="1941670"/>
            <a:ext cx="9309011" cy="954107"/>
          </a:xfrm>
          <a:prstGeom prst="rect">
            <a:avLst/>
          </a:prstGeom>
          <a:noFill/>
        </p:spPr>
        <p:txBody>
          <a:bodyPr wrap="square">
            <a:spAutoFit/>
          </a:bodyPr>
          <a:lstStyle/>
          <a:p>
            <a:r>
              <a:rPr lang="en-GB" sz="2800" dirty="0">
                <a:solidFill>
                  <a:schemeClr val="bg1"/>
                </a:solidFill>
                <a:latin typeface="Neuzeit Grotesk Light" pitchFamily="2" charset="77"/>
              </a:rPr>
              <a:t>The information about the class of each sample, i.e. the labels, is stored in the "target" attribute of the data set</a:t>
            </a:r>
          </a:p>
        </p:txBody>
      </p:sp>
      <p:pic>
        <p:nvPicPr>
          <p:cNvPr id="9" name="Picture 8">
            <a:extLst>
              <a:ext uri="{FF2B5EF4-FFF2-40B4-BE49-F238E27FC236}">
                <a16:creationId xmlns:a16="http://schemas.microsoft.com/office/drawing/2014/main" id="{988FA4D9-D095-9528-E1EF-E0903F8F68BF}"/>
              </a:ext>
            </a:extLst>
          </p:cNvPr>
          <p:cNvPicPr>
            <a:picLocks noChangeAspect="1"/>
          </p:cNvPicPr>
          <p:nvPr/>
        </p:nvPicPr>
        <p:blipFill>
          <a:blip r:embed="rId2"/>
          <a:stretch>
            <a:fillRect/>
          </a:stretch>
        </p:blipFill>
        <p:spPr>
          <a:xfrm>
            <a:off x="317500" y="3006515"/>
            <a:ext cx="7933107" cy="2408129"/>
          </a:xfrm>
          <a:prstGeom prst="rect">
            <a:avLst/>
          </a:prstGeom>
        </p:spPr>
      </p:pic>
      <p:sp>
        <p:nvSpPr>
          <p:cNvPr id="12" name="TextBox 11">
            <a:extLst>
              <a:ext uri="{FF2B5EF4-FFF2-40B4-BE49-F238E27FC236}">
                <a16:creationId xmlns:a16="http://schemas.microsoft.com/office/drawing/2014/main" id="{1398BBB6-7D5A-729B-0B7E-2CF417CE8D0B}"/>
              </a:ext>
            </a:extLst>
          </p:cNvPr>
          <p:cNvSpPr txBox="1"/>
          <p:nvPr/>
        </p:nvSpPr>
        <p:spPr>
          <a:xfrm>
            <a:off x="292100" y="5651957"/>
            <a:ext cx="10337800" cy="1323439"/>
          </a:xfrm>
          <a:prstGeom prst="rect">
            <a:avLst/>
          </a:prstGeom>
          <a:noFill/>
        </p:spPr>
        <p:txBody>
          <a:bodyPr wrap="square">
            <a:spAutoFit/>
          </a:bodyPr>
          <a:lstStyle/>
          <a:p>
            <a:r>
              <a:rPr lang="en-GB" sz="2000" dirty="0">
                <a:solidFill>
                  <a:schemeClr val="bg1"/>
                </a:solidFill>
                <a:latin typeface="Neuzeit Grotesk Light" pitchFamily="2" charset="77"/>
              </a:rPr>
              <a:t>Beside of the shape of the data, we can also check the shape of the labels, i.e. the </a:t>
            </a:r>
            <a:r>
              <a:rPr lang="en-GB" sz="2000" dirty="0" err="1">
                <a:solidFill>
                  <a:schemeClr val="bg1"/>
                </a:solidFill>
                <a:latin typeface="Neuzeit Grotesk Light" pitchFamily="2" charset="77"/>
              </a:rPr>
              <a:t>target.shape</a:t>
            </a:r>
            <a:r>
              <a:rPr lang="en-GB" sz="2000" dirty="0">
                <a:solidFill>
                  <a:schemeClr val="bg1"/>
                </a:solidFill>
                <a:latin typeface="Neuzeit Grotesk Light" pitchFamily="2" charset="77"/>
              </a:rPr>
              <a:t> : Each flower sample is one row in the data array, and the columns (features) represent the flower measurements in </a:t>
            </a:r>
            <a:r>
              <a:rPr lang="en-GB" sz="2000" dirty="0" err="1">
                <a:solidFill>
                  <a:schemeClr val="bg1"/>
                </a:solidFill>
                <a:latin typeface="Neuzeit Grotesk Light" pitchFamily="2" charset="77"/>
              </a:rPr>
              <a:t>centimeters</a:t>
            </a:r>
            <a:r>
              <a:rPr lang="en-GB" sz="2000" dirty="0">
                <a:solidFill>
                  <a:schemeClr val="bg1"/>
                </a:solidFill>
                <a:latin typeface="Neuzeit Grotesk Light" pitchFamily="2" charset="77"/>
              </a:rPr>
              <a:t>. For instance, we can represent this Iris dataset, consisting of 150 samples and 4 features, a 2-dimensional array or matrix R 150 × 4 in the following format:</a:t>
            </a:r>
          </a:p>
        </p:txBody>
      </p:sp>
    </p:spTree>
    <p:extLst>
      <p:ext uri="{BB962C8B-B14F-4D97-AF65-F5344CB8AC3E}">
        <p14:creationId xmlns:p14="http://schemas.microsoft.com/office/powerpoint/2010/main" val="18211193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27EE6615-FDA7-FEB8-5781-2860307103B5}"/>
              </a:ext>
            </a:extLst>
          </p:cNvPr>
          <p:cNvPicPr>
            <a:picLocks noChangeAspect="1"/>
          </p:cNvPicPr>
          <p:nvPr/>
        </p:nvPicPr>
        <p:blipFill>
          <a:blip r:embed="rId2"/>
          <a:stretch>
            <a:fillRect/>
          </a:stretch>
        </p:blipFill>
        <p:spPr>
          <a:xfrm>
            <a:off x="469900" y="1876425"/>
            <a:ext cx="8779001" cy="5311600"/>
          </a:xfrm>
          <a:prstGeom prst="rect">
            <a:avLst/>
          </a:prstGeom>
        </p:spPr>
      </p:pic>
    </p:spTree>
    <p:extLst>
      <p:ext uri="{BB962C8B-B14F-4D97-AF65-F5344CB8AC3E}">
        <p14:creationId xmlns:p14="http://schemas.microsoft.com/office/powerpoint/2010/main" val="8547160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984885"/>
          </a:xfrm>
        </p:spPr>
        <p:txBody>
          <a:bodyPr/>
          <a:lstStyle/>
          <a:p>
            <a:pPr algn="l"/>
            <a:r>
              <a:rPr lang="de-DE" sz="3200" u="sng" dirty="0">
                <a:solidFill>
                  <a:schemeClr val="bg1"/>
                </a:solidFill>
                <a:latin typeface="Neuzeit Grotesk Light" pitchFamily="2" charset="77"/>
                <a:ea typeface="+mn-ea"/>
                <a:cs typeface="+mn-cs"/>
              </a:rPr>
              <a:t>3. </a:t>
            </a:r>
            <a:r>
              <a:rPr lang="de-DE" sz="3200" u="sng" dirty="0" err="1">
                <a:solidFill>
                  <a:schemeClr val="bg1"/>
                </a:solidFill>
                <a:latin typeface="Neuzeit Grotesk Light" pitchFamily="2" charset="77"/>
                <a:ea typeface="+mn-ea"/>
                <a:cs typeface="+mn-cs"/>
              </a:rPr>
              <a:t>Printing</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Information About </a:t>
            </a:r>
            <a:r>
              <a:rPr lang="de-DE" sz="3200" u="sng" dirty="0" err="1">
                <a:solidFill>
                  <a:schemeClr val="bg1"/>
                </a:solidFill>
                <a:latin typeface="Neuzeit Grotesk Light" pitchFamily="2" charset="77"/>
                <a:ea typeface="+mn-ea"/>
                <a:cs typeface="+mn-cs"/>
              </a:rPr>
              <a:t>the</a:t>
            </a:r>
            <a:r>
              <a:rPr lang="de-DE" sz="3200" u="sng" dirty="0">
                <a:solidFill>
                  <a:schemeClr val="bg1"/>
                </a:solidFill>
                <a:latin typeface="Neuzeit Grotesk Light" pitchFamily="2" charset="77"/>
                <a:ea typeface="+mn-ea"/>
                <a:cs typeface="+mn-cs"/>
              </a:rPr>
              <a:t> Class</a:t>
            </a: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13FC6A60-21B0-318F-9F5C-AB754D92292E}"/>
              </a:ext>
            </a:extLst>
          </p:cNvPr>
          <p:cNvPicPr>
            <a:picLocks noChangeAspect="1"/>
          </p:cNvPicPr>
          <p:nvPr/>
        </p:nvPicPr>
        <p:blipFill>
          <a:blip r:embed="rId2"/>
          <a:stretch>
            <a:fillRect/>
          </a:stretch>
        </p:blipFill>
        <p:spPr>
          <a:xfrm>
            <a:off x="393700" y="1970101"/>
            <a:ext cx="7848600" cy="5504674"/>
          </a:xfrm>
          <a:prstGeom prst="rect">
            <a:avLst/>
          </a:prstGeom>
        </p:spPr>
      </p:pic>
    </p:spTree>
    <p:extLst>
      <p:ext uri="{BB962C8B-B14F-4D97-AF65-F5344CB8AC3E}">
        <p14:creationId xmlns:p14="http://schemas.microsoft.com/office/powerpoint/2010/main" val="26544601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BD276F-EB7E-43CC-9ABF-2157ED0DE27C}"/>
              </a:ext>
            </a:extLst>
          </p:cNvPr>
          <p:cNvSpPr txBox="1"/>
          <p:nvPr/>
        </p:nvSpPr>
        <p:spPr>
          <a:xfrm>
            <a:off x="812800" y="3150483"/>
            <a:ext cx="9067799" cy="1200329"/>
          </a:xfrm>
          <a:prstGeom prst="rect">
            <a:avLst/>
          </a:prstGeom>
          <a:noFill/>
        </p:spPr>
        <p:txBody>
          <a:bodyPr wrap="square" rtlCol="0">
            <a:spAutoFit/>
          </a:bodyPr>
          <a:lstStyle/>
          <a:p>
            <a:pPr algn="ctr"/>
            <a:endParaRPr lang="en-US" sz="3600" b="1" dirty="0">
              <a:solidFill>
                <a:schemeClr val="bg1"/>
              </a:solidFill>
              <a:latin typeface="+mj-lt"/>
            </a:endParaRPr>
          </a:p>
          <a:p>
            <a:pPr algn="ctr"/>
            <a:endParaRPr lang="en-GB" sz="3600" b="1" dirty="0">
              <a:solidFill>
                <a:schemeClr val="bg1"/>
              </a:solidFill>
              <a:latin typeface="+mj-lt"/>
            </a:endParaRPr>
          </a:p>
        </p:txBody>
      </p:sp>
      <p:sp>
        <p:nvSpPr>
          <p:cNvPr id="6" name="TextBox 2">
            <a:extLst>
              <a:ext uri="{FF2B5EF4-FFF2-40B4-BE49-F238E27FC236}">
                <a16:creationId xmlns:a16="http://schemas.microsoft.com/office/drawing/2014/main" id="{7B15C11B-36AE-6545-B639-B7EB140C1EB2}"/>
              </a:ext>
            </a:extLst>
          </p:cNvPr>
          <p:cNvSpPr txBox="1"/>
          <p:nvPr/>
        </p:nvSpPr>
        <p:spPr>
          <a:xfrm>
            <a:off x="622300" y="3248025"/>
            <a:ext cx="9067799" cy="3785652"/>
          </a:xfrm>
          <a:prstGeom prst="rect">
            <a:avLst/>
          </a:prstGeom>
          <a:noFill/>
        </p:spPr>
        <p:txBody>
          <a:bodyPr wrap="square" rtlCol="0">
            <a:spAutoFit/>
          </a:bodyPr>
          <a:lstStyle/>
          <a:p>
            <a:pPr algn="ctr"/>
            <a:r>
              <a:rPr lang="en-GB" sz="4000" b="1" dirty="0">
                <a:solidFill>
                  <a:schemeClr val="bg1"/>
                </a:solidFill>
                <a:latin typeface="NEUZEIT GROTESK LIGHT" pitchFamily="2" charset="77"/>
              </a:rPr>
              <a:t>Visualising the Features of the Iris Data Set</a:t>
            </a:r>
          </a:p>
          <a:p>
            <a:pPr algn="ctr"/>
            <a:endParaRPr lang="en-GB" sz="4000" b="1" dirty="0">
              <a:solidFill>
                <a:schemeClr val="bg1"/>
              </a:solidFill>
              <a:latin typeface="NEUZEIT GROTESK LIGHT" pitchFamily="2" charset="77"/>
            </a:endParaRPr>
          </a:p>
          <a:p>
            <a:pPr algn="ctr"/>
            <a:endParaRPr lang="en-GB" sz="4000" b="1" dirty="0">
              <a:solidFill>
                <a:schemeClr val="bg1"/>
              </a:solidFill>
              <a:latin typeface="NEUZEIT GROTESK LIGHT" pitchFamily="2" charset="77"/>
            </a:endParaRPr>
          </a:p>
          <a:p>
            <a:pPr algn="ctr"/>
            <a:endParaRPr lang="en-US" sz="4000" b="1" dirty="0">
              <a:solidFill>
                <a:schemeClr val="bg1"/>
              </a:solidFill>
              <a:latin typeface="NEUZEIT GROTESK LIGHT" pitchFamily="2" charset="77"/>
            </a:endParaRPr>
          </a:p>
          <a:p>
            <a:pPr algn="ctr"/>
            <a:endParaRPr lang="en-GB" sz="4000" b="1" dirty="0">
              <a:solidFill>
                <a:schemeClr val="bg1"/>
              </a:solidFill>
              <a:latin typeface="NEUZEIT GROTESK LIGHT" pitchFamily="2" charset="77"/>
            </a:endParaRPr>
          </a:p>
        </p:txBody>
      </p:sp>
    </p:spTree>
    <p:extLst>
      <p:ext uri="{BB962C8B-B14F-4D97-AF65-F5344CB8AC3E}">
        <p14:creationId xmlns:p14="http://schemas.microsoft.com/office/powerpoint/2010/main" val="3755056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04D29A-93DA-374B-8E93-6C70E4F4EE0B}"/>
              </a:ext>
            </a:extLst>
          </p:cNvPr>
          <p:cNvSpPr/>
          <p:nvPr/>
        </p:nvSpPr>
        <p:spPr>
          <a:xfrm>
            <a:off x="1460500" y="2028825"/>
            <a:ext cx="7772400" cy="3416320"/>
          </a:xfrm>
          <a:prstGeom prst="rect">
            <a:avLst/>
          </a:prstGeom>
        </p:spPr>
        <p:txBody>
          <a:bodyPr wrap="square">
            <a:spAutoFit/>
          </a:bodyPr>
          <a:lstStyle/>
          <a:p>
            <a:pPr algn="ctr">
              <a:lnSpc>
                <a:spcPct val="150000"/>
              </a:lnSpc>
            </a:pPr>
            <a:r>
              <a:rPr lang="en-GB" sz="3200" b="1" u="sng" dirty="0">
                <a:solidFill>
                  <a:schemeClr val="bg1"/>
                </a:solidFill>
                <a:latin typeface="Neuzeit Grotesk" pitchFamily="2" charset="77"/>
              </a:rPr>
              <a:t>Outline:</a:t>
            </a:r>
          </a:p>
          <a:p>
            <a:pPr marL="514350" indent="-514350" algn="l" fontAlgn="base">
              <a:buAutoNum type="arabicPeriod"/>
            </a:pPr>
            <a:endParaRPr lang="en-GB" sz="2800" u="sng" dirty="0">
              <a:solidFill>
                <a:schemeClr val="bg1"/>
              </a:solidFill>
              <a:latin typeface="Neuzeit Grotesk Light" pitchFamily="2" charset="77"/>
              <a:ea typeface="+mn-ea"/>
              <a:cs typeface="+mn-cs"/>
            </a:endParaRPr>
          </a:p>
          <a:p>
            <a:pPr marL="514350" indent="-514350" algn="l" fontAlgn="base">
              <a:buAutoNum type="arabicPeriod"/>
            </a:pPr>
            <a:r>
              <a:rPr lang="en-GB" sz="2800" b="1" dirty="0">
                <a:solidFill>
                  <a:schemeClr val="bg1"/>
                </a:solidFill>
                <a:latin typeface="Neuzeit Grotesk" pitchFamily="2" charset="77"/>
              </a:rPr>
              <a:t>Features </a:t>
            </a:r>
            <a:r>
              <a:rPr lang="en-GB" sz="2800" b="1" dirty="0" err="1">
                <a:solidFill>
                  <a:schemeClr val="bg1"/>
                </a:solidFill>
                <a:latin typeface="Neuzeit Grotesk" pitchFamily="2" charset="77"/>
              </a:rPr>
              <a:t>óf</a:t>
            </a:r>
            <a:r>
              <a:rPr lang="en-GB" sz="2800" b="1" dirty="0">
                <a:solidFill>
                  <a:schemeClr val="bg1"/>
                </a:solidFill>
                <a:latin typeface="Neuzeit Grotesk" pitchFamily="2" charset="77"/>
              </a:rPr>
              <a:t> Iris Datasets</a:t>
            </a:r>
          </a:p>
          <a:p>
            <a:pPr marL="514350" indent="-514350" algn="l" fontAlgn="base">
              <a:buAutoNum type="arabicPeriod"/>
            </a:pPr>
            <a:endParaRPr lang="en-GB" sz="2800" b="1" dirty="0">
              <a:solidFill>
                <a:schemeClr val="bg1"/>
              </a:solidFill>
              <a:latin typeface="Neuzeit Grotesk" pitchFamily="2" charset="77"/>
            </a:endParaRPr>
          </a:p>
          <a:p>
            <a:pPr marL="514350" indent="-514350" algn="l" fontAlgn="base">
              <a:buAutoNum type="arabicPeriod"/>
            </a:pPr>
            <a:r>
              <a:rPr lang="en-GB" sz="2800" b="1" dirty="0">
                <a:solidFill>
                  <a:schemeClr val="bg1"/>
                </a:solidFill>
                <a:latin typeface="Neuzeit Grotesk" pitchFamily="2" charset="77"/>
              </a:rPr>
              <a:t>Description of IRIS Plant Datasets</a:t>
            </a:r>
          </a:p>
          <a:p>
            <a:pPr marL="514350" indent="-514350" algn="l" fontAlgn="base">
              <a:buAutoNum type="arabicPeriod"/>
            </a:pPr>
            <a:endParaRPr lang="en-GB" sz="2800" b="1" dirty="0">
              <a:solidFill>
                <a:schemeClr val="bg1"/>
              </a:solidFill>
              <a:latin typeface="Neuzeit Grotesk" pitchFamily="2" charset="77"/>
            </a:endParaRPr>
          </a:p>
          <a:p>
            <a:r>
              <a:rPr lang="de-DE" sz="2800" kern="0" dirty="0">
                <a:solidFill>
                  <a:schemeClr val="bg1"/>
                </a:solidFill>
                <a:latin typeface="Neuzeit Grotesk Light" pitchFamily="2" charset="77"/>
                <a:ea typeface="+mn-ea"/>
                <a:cs typeface="+mn-cs"/>
              </a:rPr>
              <a:t>3</a:t>
            </a:r>
            <a:r>
              <a:rPr lang="de-DE" sz="2800" b="1" dirty="0">
                <a:solidFill>
                  <a:schemeClr val="bg1"/>
                </a:solidFill>
                <a:latin typeface="Neuzeit Grotesk" pitchFamily="2" charset="77"/>
              </a:rPr>
              <a:t>. </a:t>
            </a:r>
            <a:r>
              <a:rPr lang="en-GB" sz="2800" b="1" dirty="0">
                <a:solidFill>
                  <a:schemeClr val="bg1"/>
                </a:solidFill>
                <a:latin typeface="Neuzeit Grotesk" pitchFamily="2" charset="77"/>
              </a:rPr>
              <a:t> Description of Diabetes Dataset</a:t>
            </a:r>
          </a:p>
        </p:txBody>
      </p:sp>
    </p:spTree>
    <p:extLst>
      <p:ext uri="{BB962C8B-B14F-4D97-AF65-F5344CB8AC3E}">
        <p14:creationId xmlns:p14="http://schemas.microsoft.com/office/powerpoint/2010/main" val="174475107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Features </a:t>
            </a:r>
            <a:r>
              <a:rPr lang="de-DE" sz="3200" u="sng" dirty="0" err="1">
                <a:solidFill>
                  <a:schemeClr val="bg1"/>
                </a:solidFill>
                <a:latin typeface="Neuzeit Grotesk Light" pitchFamily="2" charset="77"/>
                <a:ea typeface="+mn-ea"/>
                <a:cs typeface="+mn-cs"/>
              </a:rPr>
              <a:t>of</a:t>
            </a:r>
            <a:r>
              <a:rPr lang="de-DE" sz="3200" u="sng" dirty="0">
                <a:solidFill>
                  <a:schemeClr val="bg1"/>
                </a:solidFill>
                <a:latin typeface="Neuzeit Grotesk Light" pitchFamily="2" charset="77"/>
                <a:ea typeface="+mn-ea"/>
                <a:cs typeface="+mn-cs"/>
              </a:rPr>
              <a:t> Iris Datasets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1868984"/>
            <a:ext cx="9677400" cy="3539430"/>
          </a:xfrm>
          <a:prstGeom prst="rect">
            <a:avLst/>
          </a:prstGeom>
          <a:noFill/>
        </p:spPr>
        <p:txBody>
          <a:bodyPr wrap="square">
            <a:spAutoFit/>
          </a:bodyPr>
          <a:lstStyle/>
          <a:p>
            <a:pPr algn="l"/>
            <a:r>
              <a:rPr lang="en-GB" sz="2800" dirty="0">
                <a:solidFill>
                  <a:schemeClr val="bg1"/>
                </a:solidFill>
                <a:latin typeface="Neuzeit Grotesk Light" pitchFamily="2" charset="77"/>
              </a:rPr>
              <a:t>We can see that the classes are distributed uniformly - there are 50 flowers from each species,</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i.e.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class 0: Iris-</a:t>
            </a:r>
            <a:r>
              <a:rPr lang="en-GB" sz="2800" dirty="0" err="1">
                <a:solidFill>
                  <a:schemeClr val="bg1"/>
                </a:solidFill>
                <a:latin typeface="Neuzeit Grotesk Light" pitchFamily="2" charset="77"/>
              </a:rPr>
              <a:t>Setosa</a:t>
            </a:r>
            <a:r>
              <a:rPr lang="en-GB" sz="2800" dirty="0">
                <a:solidFill>
                  <a:schemeClr val="bg1"/>
                </a:solidFill>
                <a:latin typeface="Neuzeit Grotesk Light" pitchFamily="2" charset="77"/>
              </a:rPr>
              <a:t>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class 1: Iris-Versicolor </a:t>
            </a:r>
          </a:p>
        </p:txBody>
      </p:sp>
    </p:spTree>
    <p:extLst>
      <p:ext uri="{BB962C8B-B14F-4D97-AF65-F5344CB8AC3E}">
        <p14:creationId xmlns:p14="http://schemas.microsoft.com/office/powerpoint/2010/main" val="39635263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Features </a:t>
            </a:r>
            <a:r>
              <a:rPr lang="de-DE" sz="3200" u="sng" dirty="0" err="1">
                <a:solidFill>
                  <a:schemeClr val="bg1"/>
                </a:solidFill>
                <a:latin typeface="Neuzeit Grotesk Light" pitchFamily="2" charset="77"/>
                <a:ea typeface="+mn-ea"/>
                <a:cs typeface="+mn-cs"/>
              </a:rPr>
              <a:t>of</a:t>
            </a:r>
            <a:r>
              <a:rPr lang="de-DE" sz="3200" u="sng" dirty="0">
                <a:solidFill>
                  <a:schemeClr val="bg1"/>
                </a:solidFill>
                <a:latin typeface="Neuzeit Grotesk Light" pitchFamily="2" charset="77"/>
                <a:ea typeface="+mn-ea"/>
                <a:cs typeface="+mn-cs"/>
              </a:rPr>
              <a:t> Iris Datasets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1868984"/>
            <a:ext cx="9677400" cy="2246769"/>
          </a:xfrm>
          <a:prstGeom prst="rect">
            <a:avLst/>
          </a:prstGeom>
          <a:noFill/>
        </p:spPr>
        <p:txBody>
          <a:bodyPr wrap="square">
            <a:spAutoFit/>
          </a:bodyPr>
          <a:lstStyle/>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class 2: Iris-Virginica</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These class names are stored in the last attribute, namely </a:t>
            </a:r>
            <a:r>
              <a:rPr lang="en-GB" sz="2800" dirty="0" err="1">
                <a:solidFill>
                  <a:schemeClr val="bg1"/>
                </a:solidFill>
                <a:latin typeface="Neuzeit Grotesk Light" pitchFamily="2" charset="77"/>
              </a:rPr>
              <a:t>target_names</a:t>
            </a:r>
            <a:r>
              <a:rPr lang="en-GB" sz="2800" dirty="0">
                <a:solidFill>
                  <a:schemeClr val="bg1"/>
                </a:solidFill>
                <a:latin typeface="Neuzeit Grotesk Light" pitchFamily="2" charset="77"/>
              </a:rPr>
              <a:t> </a:t>
            </a:r>
          </a:p>
        </p:txBody>
      </p:sp>
      <p:pic>
        <p:nvPicPr>
          <p:cNvPr id="6" name="Picture 5">
            <a:extLst>
              <a:ext uri="{FF2B5EF4-FFF2-40B4-BE49-F238E27FC236}">
                <a16:creationId xmlns:a16="http://schemas.microsoft.com/office/drawing/2014/main" id="{42A4DF38-2668-F29E-65AF-EA2584209390}"/>
              </a:ext>
            </a:extLst>
          </p:cNvPr>
          <p:cNvPicPr>
            <a:picLocks noChangeAspect="1"/>
          </p:cNvPicPr>
          <p:nvPr/>
        </p:nvPicPr>
        <p:blipFill>
          <a:blip r:embed="rId2"/>
          <a:stretch>
            <a:fillRect/>
          </a:stretch>
        </p:blipFill>
        <p:spPr>
          <a:xfrm>
            <a:off x="927100" y="4913337"/>
            <a:ext cx="8991600" cy="1391557"/>
          </a:xfrm>
          <a:prstGeom prst="rect">
            <a:avLst/>
          </a:prstGeom>
        </p:spPr>
      </p:pic>
    </p:spTree>
    <p:extLst>
      <p:ext uri="{BB962C8B-B14F-4D97-AF65-F5344CB8AC3E}">
        <p14:creationId xmlns:p14="http://schemas.microsoft.com/office/powerpoint/2010/main" val="3846576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419100" y="1249173"/>
            <a:ext cx="10337800" cy="1785104"/>
          </a:xfrm>
        </p:spPr>
        <p:txBody>
          <a:bodyPr/>
          <a:lstStyle/>
          <a:p>
            <a:pPr algn="l"/>
            <a:r>
              <a:rPr lang="de-DE" sz="3200" u="sng" dirty="0">
                <a:solidFill>
                  <a:schemeClr val="bg1"/>
                </a:solidFill>
                <a:latin typeface="Neuzeit Grotesk Light" pitchFamily="2" charset="77"/>
                <a:ea typeface="+mn-ea"/>
                <a:cs typeface="+mn-cs"/>
              </a:rPr>
              <a:t>1. Features </a:t>
            </a:r>
            <a:r>
              <a:rPr lang="de-DE" sz="3200" u="sng" dirty="0" err="1">
                <a:solidFill>
                  <a:schemeClr val="bg1"/>
                </a:solidFill>
                <a:latin typeface="Neuzeit Grotesk Light" pitchFamily="2" charset="77"/>
                <a:ea typeface="+mn-ea"/>
                <a:cs typeface="+mn-cs"/>
              </a:rPr>
              <a:t>of</a:t>
            </a:r>
            <a:r>
              <a:rPr lang="de-DE" sz="3200" u="sng" dirty="0">
                <a:solidFill>
                  <a:schemeClr val="bg1"/>
                </a:solidFill>
                <a:latin typeface="Neuzeit Grotesk Light" pitchFamily="2" charset="77"/>
                <a:ea typeface="+mn-ea"/>
                <a:cs typeface="+mn-cs"/>
              </a:rPr>
              <a:t> Iris Datasets</a:t>
            </a:r>
            <a:br>
              <a:rPr lang="en-GB" sz="3200" u="sng" dirty="0">
                <a:solidFill>
                  <a:schemeClr val="bg1"/>
                </a:solidFill>
                <a:latin typeface="Neuzeit Grotesk Light" pitchFamily="2" charset="77"/>
                <a:ea typeface="+mn-ea"/>
                <a:cs typeface="+mn-cs"/>
              </a:rPr>
            </a:br>
            <a:br>
              <a:rPr lang="en-GB" sz="2800" u="sng" dirty="0">
                <a:solidFill>
                  <a:schemeClr val="bg1"/>
                </a:solidFill>
                <a:latin typeface="Neuzeit Grotesk Light" pitchFamily="2" charset="77"/>
                <a:ea typeface="+mn-ea"/>
                <a:cs typeface="+mn-cs"/>
              </a:rPr>
            </a:br>
            <a:r>
              <a:rPr lang="en-GB" sz="2800" dirty="0">
                <a:solidFill>
                  <a:schemeClr val="bg1"/>
                </a:solidFill>
                <a:latin typeface="Neuzeit Grotesk Light" pitchFamily="2" charset="77"/>
              </a:rPr>
              <a:t>These class names are stored in the last attribute, namely </a:t>
            </a:r>
            <a:r>
              <a:rPr lang="en-GB" sz="2800" dirty="0" err="1">
                <a:solidFill>
                  <a:schemeClr val="bg1"/>
                </a:solidFill>
                <a:latin typeface="Neuzeit Grotesk Light" pitchFamily="2" charset="77"/>
              </a:rPr>
              <a:t>target_names</a:t>
            </a:r>
            <a:r>
              <a:rPr lang="en-GB" sz="2800" dirty="0">
                <a:solidFill>
                  <a:schemeClr val="bg1"/>
                </a:solidFill>
                <a:latin typeface="Neuzeit Grotesk Light" pitchFamily="2" charset="77"/>
              </a:rPr>
              <a:t> </a:t>
            </a:r>
            <a:endParaRPr lang="de-DE" sz="28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CFE52FAE-EAEA-D342-EAA9-F84304B0E372}"/>
              </a:ext>
            </a:extLst>
          </p:cNvPr>
          <p:cNvPicPr>
            <a:picLocks noChangeAspect="1"/>
          </p:cNvPicPr>
          <p:nvPr/>
        </p:nvPicPr>
        <p:blipFill>
          <a:blip r:embed="rId2"/>
          <a:stretch>
            <a:fillRect/>
          </a:stretch>
        </p:blipFill>
        <p:spPr>
          <a:xfrm>
            <a:off x="419100" y="3918815"/>
            <a:ext cx="9220200" cy="2289697"/>
          </a:xfrm>
          <a:prstGeom prst="rect">
            <a:avLst/>
          </a:prstGeom>
        </p:spPr>
      </p:pic>
      <p:sp>
        <p:nvSpPr>
          <p:cNvPr id="9" name="TextBox 8">
            <a:extLst>
              <a:ext uri="{FF2B5EF4-FFF2-40B4-BE49-F238E27FC236}">
                <a16:creationId xmlns:a16="http://schemas.microsoft.com/office/drawing/2014/main" id="{98345573-D6D4-4238-0D5B-915B017D62DD}"/>
              </a:ext>
            </a:extLst>
          </p:cNvPr>
          <p:cNvSpPr txBox="1"/>
          <p:nvPr/>
        </p:nvSpPr>
        <p:spPr>
          <a:xfrm>
            <a:off x="2601829" y="3460766"/>
            <a:ext cx="5396162" cy="369332"/>
          </a:xfrm>
          <a:prstGeom prst="rect">
            <a:avLst/>
          </a:prstGeom>
          <a:noFill/>
        </p:spPr>
        <p:txBody>
          <a:bodyPr wrap="square">
            <a:spAutoFit/>
          </a:bodyPr>
          <a:lstStyle/>
          <a:p>
            <a:pPr algn="l"/>
            <a:r>
              <a:rPr lang="en-GB" sz="1800" dirty="0">
                <a:solidFill>
                  <a:schemeClr val="bg1"/>
                </a:solidFill>
                <a:latin typeface="Neuzeit Grotesk Light" pitchFamily="2" charset="77"/>
              </a:rPr>
              <a:t> </a:t>
            </a:r>
            <a:endParaRPr lang="en-GB" sz="2800" dirty="0">
              <a:solidFill>
                <a:schemeClr val="bg1"/>
              </a:solidFill>
              <a:latin typeface="Neuzeit Grotesk Light" pitchFamily="2" charset="77"/>
            </a:endParaRPr>
          </a:p>
        </p:txBody>
      </p:sp>
    </p:spTree>
    <p:extLst>
      <p:ext uri="{BB962C8B-B14F-4D97-AF65-F5344CB8AC3E}">
        <p14:creationId xmlns:p14="http://schemas.microsoft.com/office/powerpoint/2010/main" val="5014818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Features </a:t>
            </a:r>
            <a:r>
              <a:rPr lang="de-DE" sz="3200" u="sng" dirty="0" err="1">
                <a:solidFill>
                  <a:schemeClr val="bg1"/>
                </a:solidFill>
                <a:latin typeface="Neuzeit Grotesk Light" pitchFamily="2" charset="77"/>
                <a:ea typeface="+mn-ea"/>
                <a:cs typeface="+mn-cs"/>
              </a:rPr>
              <a:t>of</a:t>
            </a:r>
            <a:r>
              <a:rPr lang="de-DE" sz="3200" u="sng" dirty="0">
                <a:solidFill>
                  <a:schemeClr val="bg1"/>
                </a:solidFill>
                <a:latin typeface="Neuzeit Grotesk Light" pitchFamily="2" charset="77"/>
                <a:ea typeface="+mn-ea"/>
                <a:cs typeface="+mn-cs"/>
              </a:rPr>
              <a:t> Iris Datasets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193750" y="1868984"/>
            <a:ext cx="10105950" cy="1815882"/>
          </a:xfrm>
          <a:prstGeom prst="rect">
            <a:avLst/>
          </a:prstGeom>
          <a:noFill/>
        </p:spPr>
        <p:txBody>
          <a:bodyPr wrap="square">
            <a:spAutoFit/>
          </a:bodyPr>
          <a:lstStyle/>
          <a:p>
            <a:pPr algn="l"/>
            <a:endParaRPr lang="en-GB" sz="2800" dirty="0">
              <a:solidFill>
                <a:schemeClr val="bg1"/>
              </a:solidFill>
              <a:latin typeface="Neuzeit Grotesk Light" pitchFamily="2" charset="77"/>
            </a:endParaRP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These class names are stored in the last attribute, namely </a:t>
            </a:r>
            <a:r>
              <a:rPr lang="en-GB" sz="2800" dirty="0" err="1">
                <a:solidFill>
                  <a:schemeClr val="bg1"/>
                </a:solidFill>
                <a:latin typeface="Neuzeit Grotesk Light" pitchFamily="2" charset="77"/>
              </a:rPr>
              <a:t>target_names</a:t>
            </a:r>
            <a:r>
              <a:rPr lang="en-GB" sz="2800" dirty="0">
                <a:solidFill>
                  <a:schemeClr val="bg1"/>
                </a:solidFill>
                <a:latin typeface="Neuzeit Grotesk Light" pitchFamily="2" charset="77"/>
              </a:rPr>
              <a:t> </a:t>
            </a:r>
          </a:p>
        </p:txBody>
      </p:sp>
      <p:pic>
        <p:nvPicPr>
          <p:cNvPr id="10" name="Picture 9">
            <a:extLst>
              <a:ext uri="{FF2B5EF4-FFF2-40B4-BE49-F238E27FC236}">
                <a16:creationId xmlns:a16="http://schemas.microsoft.com/office/drawing/2014/main" id="{76D3E797-C2F7-0A2D-B2C7-95FFE23D8313}"/>
              </a:ext>
            </a:extLst>
          </p:cNvPr>
          <p:cNvPicPr>
            <a:picLocks noChangeAspect="1"/>
          </p:cNvPicPr>
          <p:nvPr/>
        </p:nvPicPr>
        <p:blipFill>
          <a:blip r:embed="rId2"/>
          <a:stretch>
            <a:fillRect/>
          </a:stretch>
        </p:blipFill>
        <p:spPr>
          <a:xfrm>
            <a:off x="774700" y="4379937"/>
            <a:ext cx="7445385" cy="1905165"/>
          </a:xfrm>
          <a:prstGeom prst="rect">
            <a:avLst/>
          </a:prstGeom>
        </p:spPr>
      </p:pic>
    </p:spTree>
    <p:extLst>
      <p:ext uri="{BB962C8B-B14F-4D97-AF65-F5344CB8AC3E}">
        <p14:creationId xmlns:p14="http://schemas.microsoft.com/office/powerpoint/2010/main" val="40892452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1. Features </a:t>
            </a:r>
            <a:r>
              <a:rPr lang="de-DE" sz="3200" u="sng" dirty="0" err="1">
                <a:solidFill>
                  <a:schemeClr val="bg1"/>
                </a:solidFill>
                <a:latin typeface="Neuzeit Grotesk Light" pitchFamily="2" charset="77"/>
                <a:ea typeface="+mn-ea"/>
                <a:cs typeface="+mn-cs"/>
              </a:rPr>
              <a:t>of</a:t>
            </a:r>
            <a:r>
              <a:rPr lang="de-DE" sz="3200" u="sng" dirty="0">
                <a:solidFill>
                  <a:schemeClr val="bg1"/>
                </a:solidFill>
                <a:latin typeface="Neuzeit Grotesk Light" pitchFamily="2" charset="77"/>
                <a:ea typeface="+mn-ea"/>
                <a:cs typeface="+mn-cs"/>
              </a:rPr>
              <a:t> Iris Datasets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414CA966-DFDC-AFF8-9FBF-8819DDBFFAFA}"/>
              </a:ext>
            </a:extLst>
          </p:cNvPr>
          <p:cNvSpPr txBox="1"/>
          <p:nvPr/>
        </p:nvSpPr>
        <p:spPr>
          <a:xfrm>
            <a:off x="193750" y="2410729"/>
            <a:ext cx="9877350" cy="1384995"/>
          </a:xfrm>
          <a:prstGeom prst="rect">
            <a:avLst/>
          </a:prstGeom>
          <a:noFill/>
        </p:spPr>
        <p:txBody>
          <a:bodyPr wrap="square">
            <a:spAutoFit/>
          </a:bodyPr>
          <a:lstStyle/>
          <a:p>
            <a:r>
              <a:rPr lang="en-GB" sz="2800" dirty="0">
                <a:solidFill>
                  <a:schemeClr val="bg1"/>
                </a:solidFill>
                <a:latin typeface="Neuzeit Grotesk Light" pitchFamily="2" charset="77"/>
              </a:rPr>
              <a:t>The </a:t>
            </a:r>
            <a:r>
              <a:rPr lang="en-GB" sz="2800" dirty="0" err="1">
                <a:solidFill>
                  <a:schemeClr val="bg1"/>
                </a:solidFill>
                <a:latin typeface="Neuzeit Grotesk Light" pitchFamily="2" charset="77"/>
              </a:rPr>
              <a:t>feauture</a:t>
            </a:r>
            <a:r>
              <a:rPr lang="en-GB" sz="2800" dirty="0">
                <a:solidFill>
                  <a:schemeClr val="bg1"/>
                </a:solidFill>
                <a:latin typeface="Neuzeit Grotesk Light" pitchFamily="2" charset="77"/>
              </a:rPr>
              <a:t> data is four dimensional, but we can visualize one or two of the dimensions at a time using a simple histogram or scatter-plot.</a:t>
            </a:r>
          </a:p>
        </p:txBody>
      </p:sp>
    </p:spTree>
    <p:extLst>
      <p:ext uri="{BB962C8B-B14F-4D97-AF65-F5344CB8AC3E}">
        <p14:creationId xmlns:p14="http://schemas.microsoft.com/office/powerpoint/2010/main" val="42206943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a:t>
            </a:r>
            <a:r>
              <a:rPr lang="en-GB" sz="3200" u="sng" dirty="0">
                <a:solidFill>
                  <a:schemeClr val="bg1"/>
                </a:solidFill>
                <a:latin typeface="Neuzeit Grotesk Light" pitchFamily="2" charset="77"/>
                <a:ea typeface="+mn-ea"/>
                <a:cs typeface="+mn-cs"/>
              </a:rPr>
              <a:t>Histograms of The Features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E76010BC-002D-B306-34B6-75A1A143F22E}"/>
              </a:ext>
            </a:extLst>
          </p:cNvPr>
          <p:cNvPicPr>
            <a:picLocks noChangeAspect="1"/>
          </p:cNvPicPr>
          <p:nvPr/>
        </p:nvPicPr>
        <p:blipFill>
          <a:blip r:embed="rId2"/>
          <a:stretch>
            <a:fillRect/>
          </a:stretch>
        </p:blipFill>
        <p:spPr>
          <a:xfrm>
            <a:off x="317500" y="2320655"/>
            <a:ext cx="9601200" cy="1636568"/>
          </a:xfrm>
          <a:prstGeom prst="rect">
            <a:avLst/>
          </a:prstGeom>
        </p:spPr>
      </p:pic>
    </p:spTree>
    <p:extLst>
      <p:ext uri="{BB962C8B-B14F-4D97-AF65-F5344CB8AC3E}">
        <p14:creationId xmlns:p14="http://schemas.microsoft.com/office/powerpoint/2010/main" val="1826115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a:t>
            </a:r>
            <a:r>
              <a:rPr lang="en-GB" sz="3200" u="sng" dirty="0">
                <a:solidFill>
                  <a:schemeClr val="bg1"/>
                </a:solidFill>
                <a:latin typeface="Neuzeit Grotesk Light" pitchFamily="2" charset="77"/>
                <a:ea typeface="+mn-ea"/>
                <a:cs typeface="+mn-cs"/>
              </a:rPr>
              <a:t>Histograms of The Features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539B440E-5FBF-24E0-B43D-D26CF2F64738}"/>
              </a:ext>
            </a:extLst>
          </p:cNvPr>
          <p:cNvPicPr>
            <a:picLocks noChangeAspect="1"/>
          </p:cNvPicPr>
          <p:nvPr/>
        </p:nvPicPr>
        <p:blipFill>
          <a:blip r:embed="rId2"/>
          <a:stretch>
            <a:fillRect/>
          </a:stretch>
        </p:blipFill>
        <p:spPr>
          <a:xfrm>
            <a:off x="393700" y="2348302"/>
            <a:ext cx="9756905" cy="1298375"/>
          </a:xfrm>
          <a:prstGeom prst="rect">
            <a:avLst/>
          </a:prstGeom>
        </p:spPr>
      </p:pic>
      <p:pic>
        <p:nvPicPr>
          <p:cNvPr id="9" name="Picture 8">
            <a:extLst>
              <a:ext uri="{FF2B5EF4-FFF2-40B4-BE49-F238E27FC236}">
                <a16:creationId xmlns:a16="http://schemas.microsoft.com/office/drawing/2014/main" id="{F389A1D6-68B9-DDFD-1C2C-B5049589C3EC}"/>
              </a:ext>
            </a:extLst>
          </p:cNvPr>
          <p:cNvPicPr>
            <a:picLocks noChangeAspect="1"/>
          </p:cNvPicPr>
          <p:nvPr/>
        </p:nvPicPr>
        <p:blipFill>
          <a:blip r:embed="rId3"/>
          <a:stretch>
            <a:fillRect/>
          </a:stretch>
        </p:blipFill>
        <p:spPr>
          <a:xfrm>
            <a:off x="362284" y="4085034"/>
            <a:ext cx="9858918" cy="1146624"/>
          </a:xfrm>
          <a:prstGeom prst="rect">
            <a:avLst/>
          </a:prstGeom>
        </p:spPr>
      </p:pic>
    </p:spTree>
    <p:extLst>
      <p:ext uri="{BB962C8B-B14F-4D97-AF65-F5344CB8AC3E}">
        <p14:creationId xmlns:p14="http://schemas.microsoft.com/office/powerpoint/2010/main" val="24876560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2.</a:t>
            </a:r>
            <a:r>
              <a:rPr lang="en-GB" sz="3200" u="sng" dirty="0">
                <a:solidFill>
                  <a:schemeClr val="bg1"/>
                </a:solidFill>
                <a:latin typeface="Neuzeit Grotesk Light" pitchFamily="2" charset="77"/>
                <a:ea typeface="+mn-ea"/>
                <a:cs typeface="+mn-cs"/>
              </a:rPr>
              <a:t>Histograms of The Features</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30C5DB21-8CF4-2AB3-D802-795A695986F3}"/>
              </a:ext>
            </a:extLst>
          </p:cNvPr>
          <p:cNvPicPr>
            <a:picLocks noChangeAspect="1"/>
          </p:cNvPicPr>
          <p:nvPr/>
        </p:nvPicPr>
        <p:blipFill>
          <a:blip r:embed="rId2"/>
          <a:stretch>
            <a:fillRect/>
          </a:stretch>
        </p:blipFill>
        <p:spPr>
          <a:xfrm>
            <a:off x="416094" y="2257424"/>
            <a:ext cx="8968814" cy="4598067"/>
          </a:xfrm>
          <a:prstGeom prst="rect">
            <a:avLst/>
          </a:prstGeom>
        </p:spPr>
      </p:pic>
    </p:spTree>
    <p:extLst>
      <p:ext uri="{BB962C8B-B14F-4D97-AF65-F5344CB8AC3E}">
        <p14:creationId xmlns:p14="http://schemas.microsoft.com/office/powerpoint/2010/main" val="40878526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3.</a:t>
            </a:r>
            <a:r>
              <a:rPr lang="en-GB" sz="3200" u="sng" dirty="0">
                <a:solidFill>
                  <a:schemeClr val="bg1"/>
                </a:solidFill>
                <a:latin typeface="Neuzeit Grotesk Light" pitchFamily="2" charset="77"/>
                <a:ea typeface="+mn-ea"/>
                <a:cs typeface="+mn-cs"/>
              </a:rPr>
              <a:t> Scatterplot With Two Features </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53F7BF83-F6ED-CF36-67B1-4C4A333A1F2D}"/>
              </a:ext>
            </a:extLst>
          </p:cNvPr>
          <p:cNvSpPr txBox="1"/>
          <p:nvPr/>
        </p:nvSpPr>
        <p:spPr>
          <a:xfrm>
            <a:off x="393700" y="2314017"/>
            <a:ext cx="8991208" cy="523220"/>
          </a:xfrm>
          <a:prstGeom prst="rect">
            <a:avLst/>
          </a:prstGeom>
          <a:noFill/>
        </p:spPr>
        <p:txBody>
          <a:bodyPr wrap="square">
            <a:spAutoFit/>
          </a:bodyPr>
          <a:lstStyle/>
          <a:p>
            <a:r>
              <a:rPr lang="en-GB" sz="2800" dirty="0">
                <a:solidFill>
                  <a:schemeClr val="bg1"/>
                </a:solidFill>
                <a:latin typeface="Neuzeit Grotesk Light" pitchFamily="2" charset="77"/>
              </a:rPr>
              <a:t>The appearance diagram shows two features in one diagram</a:t>
            </a:r>
          </a:p>
        </p:txBody>
      </p:sp>
      <p:pic>
        <p:nvPicPr>
          <p:cNvPr id="9" name="Picture 8">
            <a:extLst>
              <a:ext uri="{FF2B5EF4-FFF2-40B4-BE49-F238E27FC236}">
                <a16:creationId xmlns:a16="http://schemas.microsoft.com/office/drawing/2014/main" id="{38260766-F365-7A38-79E1-C1D7D3BD97AB}"/>
              </a:ext>
            </a:extLst>
          </p:cNvPr>
          <p:cNvPicPr>
            <a:picLocks noChangeAspect="1"/>
          </p:cNvPicPr>
          <p:nvPr/>
        </p:nvPicPr>
        <p:blipFill>
          <a:blip r:embed="rId2"/>
          <a:stretch>
            <a:fillRect/>
          </a:stretch>
        </p:blipFill>
        <p:spPr>
          <a:xfrm>
            <a:off x="418432" y="3646678"/>
            <a:ext cx="8154107" cy="1798476"/>
          </a:xfrm>
          <a:prstGeom prst="rect">
            <a:avLst/>
          </a:prstGeom>
        </p:spPr>
      </p:pic>
    </p:spTree>
    <p:extLst>
      <p:ext uri="{BB962C8B-B14F-4D97-AF65-F5344CB8AC3E}">
        <p14:creationId xmlns:p14="http://schemas.microsoft.com/office/powerpoint/2010/main" val="24948241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3.</a:t>
            </a:r>
            <a:r>
              <a:rPr lang="en-GB" sz="3200" u="sng" dirty="0">
                <a:solidFill>
                  <a:schemeClr val="bg1"/>
                </a:solidFill>
                <a:latin typeface="Neuzeit Grotesk Light" pitchFamily="2" charset="77"/>
                <a:ea typeface="+mn-ea"/>
                <a:cs typeface="+mn-cs"/>
              </a:rPr>
              <a:t> Scatterplot With Two Features </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53F7BF83-F6ED-CF36-67B1-4C4A333A1F2D}"/>
              </a:ext>
            </a:extLst>
          </p:cNvPr>
          <p:cNvSpPr txBox="1"/>
          <p:nvPr/>
        </p:nvSpPr>
        <p:spPr>
          <a:xfrm>
            <a:off x="393700" y="2314017"/>
            <a:ext cx="8991208" cy="523220"/>
          </a:xfrm>
          <a:prstGeom prst="rect">
            <a:avLst/>
          </a:prstGeom>
          <a:noFill/>
        </p:spPr>
        <p:txBody>
          <a:bodyPr wrap="square">
            <a:spAutoFit/>
          </a:bodyPr>
          <a:lstStyle/>
          <a:p>
            <a:r>
              <a:rPr lang="en-GB" sz="2800" dirty="0">
                <a:solidFill>
                  <a:schemeClr val="bg1"/>
                </a:solidFill>
                <a:latin typeface="Neuzeit Grotesk Light" pitchFamily="2" charset="77"/>
              </a:rPr>
              <a:t>The appearance diagram shows two features in one diagram</a:t>
            </a:r>
          </a:p>
        </p:txBody>
      </p:sp>
      <p:pic>
        <p:nvPicPr>
          <p:cNvPr id="10" name="Picture 9">
            <a:extLst>
              <a:ext uri="{FF2B5EF4-FFF2-40B4-BE49-F238E27FC236}">
                <a16:creationId xmlns:a16="http://schemas.microsoft.com/office/drawing/2014/main" id="{28422242-EC45-0590-BB85-4D3051F9F0D2}"/>
              </a:ext>
            </a:extLst>
          </p:cNvPr>
          <p:cNvPicPr>
            <a:picLocks noChangeAspect="1"/>
          </p:cNvPicPr>
          <p:nvPr/>
        </p:nvPicPr>
        <p:blipFill>
          <a:blip r:embed="rId2"/>
          <a:stretch>
            <a:fillRect/>
          </a:stretch>
        </p:blipFill>
        <p:spPr>
          <a:xfrm>
            <a:off x="393700" y="3619653"/>
            <a:ext cx="8907415" cy="1477327"/>
          </a:xfrm>
          <a:prstGeom prst="rect">
            <a:avLst/>
          </a:prstGeom>
        </p:spPr>
      </p:pic>
    </p:spTree>
    <p:extLst>
      <p:ext uri="{BB962C8B-B14F-4D97-AF65-F5344CB8AC3E}">
        <p14:creationId xmlns:p14="http://schemas.microsoft.com/office/powerpoint/2010/main" val="15683101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3.</a:t>
            </a:r>
            <a:r>
              <a:rPr lang="en-GB" sz="3200" u="sng" dirty="0">
                <a:solidFill>
                  <a:schemeClr val="bg1"/>
                </a:solidFill>
                <a:latin typeface="Neuzeit Grotesk Light" pitchFamily="2" charset="77"/>
                <a:ea typeface="+mn-ea"/>
                <a:cs typeface="+mn-cs"/>
              </a:rPr>
              <a:t> Scatterplot With Two Features </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F59E79D8-A3E8-2E4C-4DF3-5FAFB641FB73}"/>
              </a:ext>
            </a:extLst>
          </p:cNvPr>
          <p:cNvPicPr>
            <a:picLocks noChangeAspect="1"/>
          </p:cNvPicPr>
          <p:nvPr/>
        </p:nvPicPr>
        <p:blipFill>
          <a:blip r:embed="rId2"/>
          <a:stretch>
            <a:fillRect/>
          </a:stretch>
        </p:blipFill>
        <p:spPr>
          <a:xfrm>
            <a:off x="469900" y="2632671"/>
            <a:ext cx="9411615" cy="1266592"/>
          </a:xfrm>
          <a:prstGeom prst="rect">
            <a:avLst/>
          </a:prstGeom>
        </p:spPr>
      </p:pic>
    </p:spTree>
    <p:extLst>
      <p:ext uri="{BB962C8B-B14F-4D97-AF65-F5344CB8AC3E}">
        <p14:creationId xmlns:p14="http://schemas.microsoft.com/office/powerpoint/2010/main" val="41774966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a:r>
              <a:rPr lang="de-DE" sz="3200" u="sng" dirty="0">
                <a:solidFill>
                  <a:schemeClr val="bg1"/>
                </a:solidFill>
                <a:latin typeface="Neuzeit Grotesk Light" pitchFamily="2" charset="77"/>
                <a:ea typeface="+mn-ea"/>
                <a:cs typeface="+mn-cs"/>
              </a:rPr>
              <a:t>3.</a:t>
            </a:r>
            <a:r>
              <a:rPr lang="en-GB" sz="3200" u="sng" dirty="0">
                <a:solidFill>
                  <a:schemeClr val="bg1"/>
                </a:solidFill>
                <a:latin typeface="Neuzeit Grotesk Light" pitchFamily="2" charset="77"/>
                <a:ea typeface="+mn-ea"/>
                <a:cs typeface="+mn-cs"/>
              </a:rPr>
              <a:t> Scatterplot With Two Features </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2C19BC19-5968-85C9-6C4A-6CF500BE52E6}"/>
              </a:ext>
            </a:extLst>
          </p:cNvPr>
          <p:cNvPicPr>
            <a:picLocks noChangeAspect="1"/>
          </p:cNvPicPr>
          <p:nvPr/>
        </p:nvPicPr>
        <p:blipFill>
          <a:blip r:embed="rId2"/>
          <a:stretch>
            <a:fillRect/>
          </a:stretch>
        </p:blipFill>
        <p:spPr>
          <a:xfrm>
            <a:off x="606926" y="2208954"/>
            <a:ext cx="7734970" cy="3391194"/>
          </a:xfrm>
          <a:prstGeom prst="rect">
            <a:avLst/>
          </a:prstGeom>
        </p:spPr>
      </p:pic>
    </p:spTree>
    <p:extLst>
      <p:ext uri="{BB962C8B-B14F-4D97-AF65-F5344CB8AC3E}">
        <p14:creationId xmlns:p14="http://schemas.microsoft.com/office/powerpoint/2010/main" val="1527456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4832092"/>
          </a:xfrm>
          <a:prstGeom prst="rect">
            <a:avLst/>
          </a:prstGeom>
          <a:noFill/>
        </p:spPr>
        <p:txBody>
          <a:bodyPr wrap="square">
            <a:spAutoFit/>
          </a:bodyPr>
          <a:lstStyle/>
          <a:p>
            <a:pPr algn="l"/>
            <a:r>
              <a:rPr lang="en-GB" sz="2800" dirty="0">
                <a:solidFill>
                  <a:schemeClr val="bg1"/>
                </a:solidFill>
                <a:latin typeface="Neuzeit Grotesk Light" pitchFamily="2" charset="77"/>
              </a:rPr>
              <a:t>You have your data ready and you are eager to start training the classifier?</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But be careful: When your classifier will be finished, you will need some test data to evaluate your classifier.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If you evaluate your classifier with the data used for learning, you may see surprisingly good results.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What we actually want to test is the performance of classifying on unknown data.</a:t>
            </a:r>
          </a:p>
        </p:txBody>
      </p:sp>
    </p:spTree>
    <p:extLst>
      <p:ext uri="{BB962C8B-B14F-4D97-AF65-F5344CB8AC3E}">
        <p14:creationId xmlns:p14="http://schemas.microsoft.com/office/powerpoint/2010/main" val="3196508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3108543"/>
          </a:xfrm>
          <a:prstGeom prst="rect">
            <a:avLst/>
          </a:prstGeom>
          <a:noFill/>
        </p:spPr>
        <p:txBody>
          <a:bodyPr wrap="square">
            <a:spAutoFit/>
          </a:bodyPr>
          <a:lstStyle/>
          <a:p>
            <a:pPr algn="l"/>
            <a:r>
              <a:rPr lang="en-GB" sz="2800" dirty="0">
                <a:solidFill>
                  <a:schemeClr val="bg1"/>
                </a:solidFill>
                <a:latin typeface="Neuzeit Grotesk Light" pitchFamily="2" charset="77"/>
              </a:rPr>
              <a:t>For this purpose, we need to split our data into two parts: </a:t>
            </a:r>
          </a:p>
          <a:p>
            <a:pPr algn="l"/>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A training set with which the learning algorithm adapts or learns the model </a:t>
            </a:r>
          </a:p>
          <a:p>
            <a:pPr marL="514350" indent="-514350" algn="l">
              <a:buAutoNum type="arabicPeriod"/>
            </a:pPr>
            <a:endParaRPr lang="en-GB" sz="2800" dirty="0">
              <a:solidFill>
                <a:schemeClr val="bg1"/>
              </a:solidFill>
              <a:latin typeface="Neuzeit Grotesk Light" pitchFamily="2" charset="77"/>
            </a:endParaRPr>
          </a:p>
          <a:p>
            <a:pPr marL="514350" indent="-514350" algn="l">
              <a:buAutoNum type="arabicPeriod"/>
            </a:pPr>
            <a:r>
              <a:rPr lang="en-GB" sz="2800" dirty="0">
                <a:solidFill>
                  <a:schemeClr val="bg1"/>
                </a:solidFill>
                <a:latin typeface="Neuzeit Grotesk Light" pitchFamily="2" charset="77"/>
              </a:rPr>
              <a:t>A test set to evaluate the generalization performance of the model</a:t>
            </a:r>
          </a:p>
        </p:txBody>
      </p:sp>
    </p:spTree>
    <p:extLst>
      <p:ext uri="{BB962C8B-B14F-4D97-AF65-F5344CB8AC3E}">
        <p14:creationId xmlns:p14="http://schemas.microsoft.com/office/powerpoint/2010/main" val="37350582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4401205"/>
          </a:xfrm>
          <a:prstGeom prst="rect">
            <a:avLst/>
          </a:prstGeom>
          <a:noFill/>
        </p:spPr>
        <p:txBody>
          <a:bodyPr wrap="square">
            <a:spAutoFit/>
          </a:bodyPr>
          <a:lstStyle/>
          <a:p>
            <a:pPr algn="l"/>
            <a:r>
              <a:rPr lang="en-GB" sz="2800" dirty="0">
                <a:solidFill>
                  <a:schemeClr val="bg1"/>
                </a:solidFill>
                <a:latin typeface="Neuzeit Grotesk Light" pitchFamily="2" charset="77"/>
              </a:rPr>
              <a:t>When you consider how machine learning normally works, the idea of a split between learning and test data makes sense.</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 Really existing systems train on existing data and if other new data (from customers, sensors or other sources) comes in, the trained classifier has to predict or classify this new data.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We can simulate this during training with a training and test data set - the test data is a simulation of "future data" that will go into the system during production. </a:t>
            </a:r>
          </a:p>
        </p:txBody>
      </p:sp>
    </p:spTree>
    <p:extLst>
      <p:ext uri="{BB962C8B-B14F-4D97-AF65-F5344CB8AC3E}">
        <p14:creationId xmlns:p14="http://schemas.microsoft.com/office/powerpoint/2010/main" val="150492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1B3F3212-469E-E3FC-22FF-16D85749B377}"/>
              </a:ext>
            </a:extLst>
          </p:cNvPr>
          <p:cNvSpPr txBox="1"/>
          <p:nvPr/>
        </p:nvSpPr>
        <p:spPr>
          <a:xfrm>
            <a:off x="622300" y="2192912"/>
            <a:ext cx="9677400" cy="2677656"/>
          </a:xfrm>
          <a:prstGeom prst="rect">
            <a:avLst/>
          </a:prstGeom>
          <a:noFill/>
        </p:spPr>
        <p:txBody>
          <a:bodyPr wrap="square">
            <a:spAutoFit/>
          </a:bodyPr>
          <a:lstStyle/>
          <a:p>
            <a:pPr algn="l"/>
            <a:r>
              <a:rPr lang="en-GB" sz="2800" dirty="0">
                <a:solidFill>
                  <a:schemeClr val="bg1"/>
                </a:solidFill>
                <a:latin typeface="Neuzeit Grotesk Light" pitchFamily="2" charset="77"/>
              </a:rPr>
              <a:t>We will learn how to do the splitting with plain Python. </a:t>
            </a:r>
          </a:p>
          <a:p>
            <a:pPr algn="l"/>
            <a:endParaRPr lang="en-GB" sz="2800" dirty="0">
              <a:solidFill>
                <a:schemeClr val="bg1"/>
              </a:solidFill>
              <a:latin typeface="Neuzeit Grotesk Light" pitchFamily="2" charset="77"/>
            </a:endParaRPr>
          </a:p>
          <a:p>
            <a:pPr algn="l"/>
            <a:r>
              <a:rPr lang="en-GB" sz="2800" dirty="0">
                <a:solidFill>
                  <a:schemeClr val="bg1"/>
                </a:solidFill>
                <a:latin typeface="Neuzeit Grotesk Light" pitchFamily="2" charset="77"/>
              </a:rPr>
              <a:t>We will see also that doing it manually is not necessary, because the </a:t>
            </a:r>
            <a:r>
              <a:rPr lang="en-GB" sz="2800" dirty="0" err="1">
                <a:solidFill>
                  <a:schemeClr val="bg1"/>
                </a:solidFill>
                <a:latin typeface="Neuzeit Grotesk Light" pitchFamily="2" charset="77"/>
              </a:rPr>
              <a:t>train_test_split</a:t>
            </a:r>
            <a:r>
              <a:rPr lang="en-GB" sz="2800" dirty="0">
                <a:solidFill>
                  <a:schemeClr val="bg1"/>
                </a:solidFill>
                <a:latin typeface="Neuzeit Grotesk Light" pitchFamily="2" charset="77"/>
              </a:rPr>
              <a:t> function from the </a:t>
            </a:r>
            <a:r>
              <a:rPr lang="en-GB" sz="2800" dirty="0" err="1">
                <a:solidFill>
                  <a:schemeClr val="bg1"/>
                </a:solidFill>
                <a:latin typeface="Neuzeit Grotesk Light" pitchFamily="2" charset="77"/>
              </a:rPr>
              <a:t>model_selection</a:t>
            </a:r>
            <a:r>
              <a:rPr lang="en-GB" sz="2800" dirty="0">
                <a:solidFill>
                  <a:schemeClr val="bg1"/>
                </a:solidFill>
                <a:latin typeface="Neuzeit Grotesk Light" pitchFamily="2" charset="77"/>
              </a:rPr>
              <a:t> module can do it for us. If the dataset is sorted by label, we will have to shuffle it before splitting. </a:t>
            </a:r>
          </a:p>
        </p:txBody>
      </p:sp>
    </p:spTree>
    <p:extLst>
      <p:ext uri="{BB962C8B-B14F-4D97-AF65-F5344CB8AC3E}">
        <p14:creationId xmlns:p14="http://schemas.microsoft.com/office/powerpoint/2010/main" val="23298175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DD9A49A1-25D2-939C-665C-5D89CE9CDDAC}"/>
              </a:ext>
            </a:extLst>
          </p:cNvPr>
          <p:cNvPicPr>
            <a:picLocks noChangeAspect="1"/>
          </p:cNvPicPr>
          <p:nvPr/>
        </p:nvPicPr>
        <p:blipFill>
          <a:blip r:embed="rId2"/>
          <a:stretch>
            <a:fillRect/>
          </a:stretch>
        </p:blipFill>
        <p:spPr>
          <a:xfrm>
            <a:off x="761917" y="2028825"/>
            <a:ext cx="5738357" cy="4427604"/>
          </a:xfrm>
          <a:prstGeom prst="rect">
            <a:avLst/>
          </a:prstGeom>
        </p:spPr>
      </p:pic>
    </p:spTree>
    <p:extLst>
      <p:ext uri="{BB962C8B-B14F-4D97-AF65-F5344CB8AC3E}">
        <p14:creationId xmlns:p14="http://schemas.microsoft.com/office/powerpoint/2010/main" val="21179949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8E11A649-9EDF-6C31-CE06-645E3A73E0A2}"/>
              </a:ext>
            </a:extLst>
          </p:cNvPr>
          <p:cNvSpPr txBox="1"/>
          <p:nvPr/>
        </p:nvSpPr>
        <p:spPr>
          <a:xfrm>
            <a:off x="193750" y="2333625"/>
            <a:ext cx="9343950" cy="3970318"/>
          </a:xfrm>
          <a:prstGeom prst="rect">
            <a:avLst/>
          </a:prstGeom>
          <a:noFill/>
        </p:spPr>
        <p:txBody>
          <a:bodyPr wrap="square">
            <a:spAutoFit/>
          </a:bodyPr>
          <a:lstStyle/>
          <a:p>
            <a:r>
              <a:rPr lang="en-GB" sz="2800" dirty="0">
                <a:solidFill>
                  <a:schemeClr val="bg1"/>
                </a:solidFill>
                <a:latin typeface="Neuzeit Grotesk Light" pitchFamily="2" charset="77"/>
              </a:rPr>
              <a:t>Dataset can be separated into a learn (a.k.a. training) dataset and a test dataset.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Best practice is to split it into a learn, test and an evaluation dataset.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We will train our model (classifier) step by step and each time the result needs to be tested. If we just have a test dataset. The results of the testing might get into the model</a:t>
            </a:r>
            <a:endParaRPr lang="en-GB" dirty="0"/>
          </a:p>
        </p:txBody>
      </p:sp>
    </p:spTree>
    <p:extLst>
      <p:ext uri="{BB962C8B-B14F-4D97-AF65-F5344CB8AC3E}">
        <p14:creationId xmlns:p14="http://schemas.microsoft.com/office/powerpoint/2010/main" val="40513165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462213"/>
          </a:xfrm>
        </p:spPr>
        <p:txBody>
          <a:bodyPr/>
          <a:lstStyle/>
          <a:p>
            <a:pPr algn="l" fontAlgn="base"/>
            <a:r>
              <a:rPr lang="de-DE" sz="3200" u="sng" dirty="0">
                <a:solidFill>
                  <a:schemeClr val="bg1"/>
                </a:solidFill>
                <a:latin typeface="Neuzeit Grotesk Light" pitchFamily="2" charset="77"/>
                <a:ea typeface="+mn-ea"/>
                <a:cs typeface="+mn-cs"/>
              </a:rPr>
              <a:t>1. </a:t>
            </a:r>
            <a:r>
              <a:rPr lang="en-GB" sz="3200" b="1" u="sng" dirty="0">
                <a:solidFill>
                  <a:schemeClr val="bg1"/>
                </a:solidFill>
                <a:latin typeface="Neuzeit Grotesk" pitchFamily="2" charset="77"/>
              </a:rPr>
              <a:t>Learn, Test and Evaluation Data</a:t>
            </a:r>
            <a:br>
              <a:rPr lang="en-GB" sz="3200" b="1" dirty="0">
                <a:solidFill>
                  <a:schemeClr val="bg1"/>
                </a:solidFill>
                <a:latin typeface="Neuzeit Grotesk" pitchFamily="2" charset="77"/>
              </a:rPr>
            </a:br>
            <a:br>
              <a:rPr lang="de-DE" sz="3200" b="1" dirty="0">
                <a:solidFill>
                  <a:schemeClr val="bg1"/>
                </a:solidFill>
                <a:latin typeface="Neuzeit Grotesk" pitchFamily="2" charset="77"/>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8E11A649-9EDF-6C31-CE06-645E3A73E0A2}"/>
              </a:ext>
            </a:extLst>
          </p:cNvPr>
          <p:cNvSpPr txBox="1"/>
          <p:nvPr/>
        </p:nvSpPr>
        <p:spPr>
          <a:xfrm>
            <a:off x="193750" y="2333625"/>
            <a:ext cx="4695750" cy="3539430"/>
          </a:xfrm>
          <a:prstGeom prst="rect">
            <a:avLst/>
          </a:prstGeom>
          <a:noFill/>
        </p:spPr>
        <p:txBody>
          <a:bodyPr wrap="square">
            <a:spAutoFit/>
          </a:bodyPr>
          <a:lstStyle/>
          <a:p>
            <a:r>
              <a:rPr lang="en-GB" sz="2800" dirty="0">
                <a:solidFill>
                  <a:schemeClr val="bg1"/>
                </a:solidFill>
                <a:latin typeface="Neuzeit Grotesk Light" pitchFamily="2" charset="77"/>
              </a:rPr>
              <a:t>So we will use an evaluation dataset for the complete learning phase.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When our classifier is finished, we will check it with the test dataset, which it has not "seen" before!</a:t>
            </a:r>
          </a:p>
        </p:txBody>
      </p:sp>
      <p:pic>
        <p:nvPicPr>
          <p:cNvPr id="6" name="Picture 5">
            <a:extLst>
              <a:ext uri="{FF2B5EF4-FFF2-40B4-BE49-F238E27FC236}">
                <a16:creationId xmlns:a16="http://schemas.microsoft.com/office/drawing/2014/main" id="{678F119C-9ADA-D441-F28B-CA513E890673}"/>
              </a:ext>
            </a:extLst>
          </p:cNvPr>
          <p:cNvPicPr>
            <a:picLocks noChangeAspect="1"/>
          </p:cNvPicPr>
          <p:nvPr/>
        </p:nvPicPr>
        <p:blipFill>
          <a:blip r:embed="rId2"/>
          <a:stretch>
            <a:fillRect/>
          </a:stretch>
        </p:blipFill>
        <p:spPr>
          <a:xfrm>
            <a:off x="6291060" y="1419225"/>
            <a:ext cx="4166469" cy="5619202"/>
          </a:xfrm>
          <a:prstGeom prst="rect">
            <a:avLst/>
          </a:prstGeom>
        </p:spPr>
      </p:pic>
    </p:spTree>
    <p:extLst>
      <p:ext uri="{BB962C8B-B14F-4D97-AF65-F5344CB8AC3E}">
        <p14:creationId xmlns:p14="http://schemas.microsoft.com/office/powerpoint/2010/main" val="382302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954655"/>
          </a:xfrm>
        </p:spPr>
        <p:txBody>
          <a:bodyPr/>
          <a:lstStyle/>
          <a:p>
            <a:pPr algn="l" fontAlgn="base"/>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Splitting Example: Iris Data 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de-DE"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5262979"/>
          </a:xfrm>
          <a:prstGeom prst="rect">
            <a:avLst/>
          </a:prstGeom>
          <a:noFill/>
        </p:spPr>
        <p:txBody>
          <a:bodyPr wrap="square">
            <a:spAutoFit/>
          </a:bodyPr>
          <a:lstStyle/>
          <a:p>
            <a:r>
              <a:rPr lang="en-GB" sz="2800" dirty="0">
                <a:solidFill>
                  <a:schemeClr val="bg1"/>
                </a:solidFill>
                <a:latin typeface="Neuzeit Grotesk Light" pitchFamily="2" charset="77"/>
              </a:rPr>
              <a:t>We will demonstrate the previously discussed topics with the Iris Dataset.</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 The 150 data sets of the Iris data set are sorted, i.e. the first 50 data correspond to the first flower class (0 = </a:t>
            </a:r>
            <a:r>
              <a:rPr lang="en-GB" sz="2800" dirty="0" err="1">
                <a:solidFill>
                  <a:schemeClr val="bg1"/>
                </a:solidFill>
                <a:latin typeface="Neuzeit Grotesk Light" pitchFamily="2" charset="77"/>
              </a:rPr>
              <a:t>Setosa</a:t>
            </a:r>
            <a:r>
              <a:rPr lang="en-GB" sz="2800" dirty="0">
                <a:solidFill>
                  <a:schemeClr val="bg1"/>
                </a:solidFill>
                <a:latin typeface="Neuzeit Grotesk Light" pitchFamily="2" charset="77"/>
              </a:rPr>
              <a:t>), the next 50 to the second flower class (1 = Versicolor) and the remaining data correspond to the last class (2 = Virginica).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If we were to split our data in the ratio 2/3 (learning set) and 1/3 (test set), the learning set would contain all the flowers of the first two classes and the test set all the flowers of the third flower class. </a:t>
            </a:r>
          </a:p>
        </p:txBody>
      </p:sp>
    </p:spTree>
    <p:extLst>
      <p:ext uri="{BB962C8B-B14F-4D97-AF65-F5344CB8AC3E}">
        <p14:creationId xmlns:p14="http://schemas.microsoft.com/office/powerpoint/2010/main" val="1596518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954655"/>
          </a:xfrm>
        </p:spPr>
        <p:txBody>
          <a:bodyPr/>
          <a:lstStyle/>
          <a:p>
            <a:pPr algn="l" fontAlgn="base"/>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Splitting Example: Iris Data 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de-DE"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3108543"/>
          </a:xfrm>
          <a:prstGeom prst="rect">
            <a:avLst/>
          </a:prstGeom>
          <a:noFill/>
        </p:spPr>
        <p:txBody>
          <a:bodyPr wrap="square">
            <a:spAutoFit/>
          </a:bodyPr>
          <a:lstStyle/>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The classifier could only learn two classes and the third class would be completely unknown.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So we urgently need to mix the data. Assuming all samples are independent of each other, we want to shuffle the data set randomly before we split the data set as shown above.</a:t>
            </a:r>
          </a:p>
        </p:txBody>
      </p:sp>
      <p:pic>
        <p:nvPicPr>
          <p:cNvPr id="5" name="Picture 4">
            <a:extLst>
              <a:ext uri="{FF2B5EF4-FFF2-40B4-BE49-F238E27FC236}">
                <a16:creationId xmlns:a16="http://schemas.microsoft.com/office/drawing/2014/main" id="{D0930FF9-AFC5-277D-7A49-1DB7A087E3FC}"/>
              </a:ext>
            </a:extLst>
          </p:cNvPr>
          <p:cNvPicPr>
            <a:picLocks noChangeAspect="1"/>
          </p:cNvPicPr>
          <p:nvPr/>
        </p:nvPicPr>
        <p:blipFill>
          <a:blip r:embed="rId2"/>
          <a:stretch>
            <a:fillRect/>
          </a:stretch>
        </p:blipFill>
        <p:spPr>
          <a:xfrm>
            <a:off x="317500" y="5612183"/>
            <a:ext cx="9914479" cy="1889924"/>
          </a:xfrm>
          <a:prstGeom prst="rect">
            <a:avLst/>
          </a:prstGeom>
        </p:spPr>
      </p:pic>
      <p:sp>
        <p:nvSpPr>
          <p:cNvPr id="9" name="TextBox 8">
            <a:extLst>
              <a:ext uri="{FF2B5EF4-FFF2-40B4-BE49-F238E27FC236}">
                <a16:creationId xmlns:a16="http://schemas.microsoft.com/office/drawing/2014/main" id="{7D256246-6C1A-9288-D1E6-C251D434E865}"/>
              </a:ext>
            </a:extLst>
          </p:cNvPr>
          <p:cNvSpPr txBox="1"/>
          <p:nvPr/>
        </p:nvSpPr>
        <p:spPr>
          <a:xfrm>
            <a:off x="698500" y="5214292"/>
            <a:ext cx="5388428" cy="369332"/>
          </a:xfrm>
          <a:prstGeom prst="rect">
            <a:avLst/>
          </a:prstGeom>
          <a:noFill/>
        </p:spPr>
        <p:txBody>
          <a:bodyPr wrap="square">
            <a:spAutoFit/>
          </a:bodyPr>
          <a:lstStyle/>
          <a:p>
            <a:r>
              <a:rPr lang="de-DE" dirty="0">
                <a:solidFill>
                  <a:schemeClr val="bg1"/>
                </a:solidFill>
                <a:latin typeface="Neuzeit Grotesk Light" pitchFamily="2" charset="77"/>
              </a:rPr>
              <a:t>T</a:t>
            </a:r>
            <a:r>
              <a:rPr lang="en-GB" dirty="0">
                <a:solidFill>
                  <a:schemeClr val="bg1"/>
                </a:solidFill>
                <a:latin typeface="Neuzeit Grotesk Light" pitchFamily="2" charset="77"/>
              </a:rPr>
              <a:t>he Data is Split manually as follows: </a:t>
            </a:r>
            <a:endParaRPr lang="en-GB" dirty="0"/>
          </a:p>
        </p:txBody>
      </p:sp>
    </p:spTree>
    <p:extLst>
      <p:ext uri="{BB962C8B-B14F-4D97-AF65-F5344CB8AC3E}">
        <p14:creationId xmlns:p14="http://schemas.microsoft.com/office/powerpoint/2010/main" val="828576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954655"/>
          </a:xfrm>
        </p:spPr>
        <p:txBody>
          <a:bodyPr/>
          <a:lstStyle/>
          <a:p>
            <a:pPr algn="l" fontAlgn="base"/>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Splitting Example: Iris Data 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de-DE"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9817BEF0-F2EA-A0F7-426B-91EFF4DF6479}"/>
              </a:ext>
            </a:extLst>
          </p:cNvPr>
          <p:cNvPicPr>
            <a:picLocks noChangeAspect="1"/>
          </p:cNvPicPr>
          <p:nvPr/>
        </p:nvPicPr>
        <p:blipFill>
          <a:blip r:embed="rId2"/>
          <a:stretch>
            <a:fillRect/>
          </a:stretch>
        </p:blipFill>
        <p:spPr>
          <a:xfrm>
            <a:off x="404775" y="1869621"/>
            <a:ext cx="9690100" cy="5598435"/>
          </a:xfrm>
          <a:prstGeom prst="rect">
            <a:avLst/>
          </a:prstGeom>
        </p:spPr>
      </p:pic>
    </p:spTree>
    <p:extLst>
      <p:ext uri="{BB962C8B-B14F-4D97-AF65-F5344CB8AC3E}">
        <p14:creationId xmlns:p14="http://schemas.microsoft.com/office/powerpoint/2010/main" val="40702160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954655"/>
          </a:xfrm>
        </p:spPr>
        <p:txBody>
          <a:bodyPr/>
          <a:lstStyle/>
          <a:p>
            <a:pPr algn="l" fontAlgn="base"/>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Splitting Example: Iris Data 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de-DE"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pic>
        <p:nvPicPr>
          <p:cNvPr id="5" name="Picture 4">
            <a:extLst>
              <a:ext uri="{FF2B5EF4-FFF2-40B4-BE49-F238E27FC236}">
                <a16:creationId xmlns:a16="http://schemas.microsoft.com/office/drawing/2014/main" id="{363115A6-BB44-B8AE-61CC-7087F303B637}"/>
              </a:ext>
            </a:extLst>
          </p:cNvPr>
          <p:cNvPicPr>
            <a:picLocks noChangeAspect="1"/>
          </p:cNvPicPr>
          <p:nvPr/>
        </p:nvPicPr>
        <p:blipFill>
          <a:blip r:embed="rId2"/>
          <a:stretch>
            <a:fillRect/>
          </a:stretch>
        </p:blipFill>
        <p:spPr>
          <a:xfrm>
            <a:off x="546100" y="2121903"/>
            <a:ext cx="8458200" cy="5119447"/>
          </a:xfrm>
          <a:prstGeom prst="rect">
            <a:avLst/>
          </a:prstGeom>
        </p:spPr>
      </p:pic>
    </p:spTree>
    <p:extLst>
      <p:ext uri="{BB962C8B-B14F-4D97-AF65-F5344CB8AC3E}">
        <p14:creationId xmlns:p14="http://schemas.microsoft.com/office/powerpoint/2010/main" val="7805056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2954655"/>
          </a:xfrm>
        </p:spPr>
        <p:txBody>
          <a:bodyPr/>
          <a:lstStyle/>
          <a:p>
            <a:pPr algn="l" fontAlgn="base"/>
            <a:r>
              <a:rPr lang="de-DE" sz="3200" u="sng" dirty="0">
                <a:solidFill>
                  <a:schemeClr val="bg1"/>
                </a:solidFill>
                <a:latin typeface="Neuzeit Grotesk Light" pitchFamily="2" charset="77"/>
                <a:ea typeface="+mn-ea"/>
                <a:cs typeface="+mn-cs"/>
              </a:rPr>
              <a:t>2. </a:t>
            </a:r>
            <a:r>
              <a:rPr lang="en-GB" sz="3200" u="sng" dirty="0">
                <a:solidFill>
                  <a:schemeClr val="bg1"/>
                </a:solidFill>
                <a:latin typeface="Neuzeit Grotesk Light" pitchFamily="2" charset="77"/>
                <a:ea typeface="+mn-ea"/>
                <a:cs typeface="+mn-cs"/>
              </a:rPr>
              <a:t>Splitting Example: Iris Data Set</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de-DE"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3A7B161F-03ED-3CFC-30C3-1B42282CD183}"/>
              </a:ext>
            </a:extLst>
          </p:cNvPr>
          <p:cNvPicPr>
            <a:picLocks noChangeAspect="1"/>
          </p:cNvPicPr>
          <p:nvPr/>
        </p:nvPicPr>
        <p:blipFill>
          <a:blip r:embed="rId2"/>
          <a:stretch>
            <a:fillRect/>
          </a:stretch>
        </p:blipFill>
        <p:spPr>
          <a:xfrm>
            <a:off x="546100" y="2438192"/>
            <a:ext cx="9464860" cy="4785775"/>
          </a:xfrm>
          <a:prstGeom prst="rect">
            <a:avLst/>
          </a:prstGeom>
        </p:spPr>
      </p:pic>
    </p:spTree>
    <p:extLst>
      <p:ext uri="{BB962C8B-B14F-4D97-AF65-F5344CB8AC3E}">
        <p14:creationId xmlns:p14="http://schemas.microsoft.com/office/powerpoint/2010/main" val="21074265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fontAlgn="base"/>
            <a:r>
              <a:rPr lang="de-DE" sz="3200" u="sng" dirty="0">
                <a:solidFill>
                  <a:schemeClr val="bg1"/>
                </a:solidFill>
                <a:latin typeface="Neuzeit Grotesk Light" pitchFamily="2" charset="77"/>
                <a:ea typeface="+mn-ea"/>
                <a:cs typeface="+mn-cs"/>
              </a:rPr>
              <a:t>3. Split </a:t>
            </a:r>
            <a:r>
              <a:rPr lang="de-DE" sz="3200" u="sng" dirty="0" err="1">
                <a:solidFill>
                  <a:schemeClr val="bg1"/>
                </a:solidFill>
                <a:latin typeface="Neuzeit Grotesk Light" pitchFamily="2" charset="77"/>
                <a:ea typeface="+mn-ea"/>
                <a:cs typeface="+mn-cs"/>
              </a:rPr>
              <a:t>with</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Sklearn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CDBE39BD-D4DE-02FA-94CC-F4D5B717FBAA}"/>
              </a:ext>
            </a:extLst>
          </p:cNvPr>
          <p:cNvSpPr txBox="1"/>
          <p:nvPr/>
        </p:nvSpPr>
        <p:spPr>
          <a:xfrm>
            <a:off x="351578" y="2246294"/>
            <a:ext cx="9719521" cy="2677656"/>
          </a:xfrm>
          <a:prstGeom prst="rect">
            <a:avLst/>
          </a:prstGeom>
          <a:noFill/>
        </p:spPr>
        <p:txBody>
          <a:bodyPr wrap="square">
            <a:spAutoFit/>
          </a:bodyPr>
          <a:lstStyle/>
          <a:p>
            <a:r>
              <a:rPr lang="en-GB" sz="2800" dirty="0">
                <a:solidFill>
                  <a:schemeClr val="bg1"/>
                </a:solidFill>
                <a:latin typeface="Neuzeit Grotesk Light" pitchFamily="2" charset="77"/>
              </a:rPr>
              <a:t>Even though it was not difficult to split the data manually into a learn (train) and an evaluation (test) set, we don't have to do the splitting manually as shown above.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Since this is often required in machine learning, </a:t>
            </a:r>
            <a:r>
              <a:rPr lang="en-GB" sz="2800" dirty="0" err="1">
                <a:solidFill>
                  <a:schemeClr val="bg1"/>
                </a:solidFill>
                <a:latin typeface="Neuzeit Grotesk Light" pitchFamily="2" charset="77"/>
              </a:rPr>
              <a:t>scikitlearn</a:t>
            </a:r>
            <a:r>
              <a:rPr lang="en-GB" sz="2800" dirty="0">
                <a:solidFill>
                  <a:schemeClr val="bg1"/>
                </a:solidFill>
                <a:latin typeface="Neuzeit Grotesk Light" pitchFamily="2" charset="77"/>
              </a:rPr>
              <a:t> has a predefined function for dividing data into training and test sets. </a:t>
            </a:r>
          </a:p>
        </p:txBody>
      </p:sp>
    </p:spTree>
    <p:extLst>
      <p:ext uri="{BB962C8B-B14F-4D97-AF65-F5344CB8AC3E}">
        <p14:creationId xmlns:p14="http://schemas.microsoft.com/office/powerpoint/2010/main" val="38306429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fontAlgn="base"/>
            <a:r>
              <a:rPr lang="de-DE" sz="3200" u="sng" dirty="0">
                <a:solidFill>
                  <a:schemeClr val="bg1"/>
                </a:solidFill>
                <a:latin typeface="Neuzeit Grotesk Light" pitchFamily="2" charset="77"/>
                <a:ea typeface="+mn-ea"/>
                <a:cs typeface="+mn-cs"/>
              </a:rPr>
              <a:t>3. Split </a:t>
            </a:r>
            <a:r>
              <a:rPr lang="de-DE" sz="3200" u="sng" dirty="0" err="1">
                <a:solidFill>
                  <a:schemeClr val="bg1"/>
                </a:solidFill>
                <a:latin typeface="Neuzeit Grotesk Light" pitchFamily="2" charset="77"/>
                <a:ea typeface="+mn-ea"/>
                <a:cs typeface="+mn-cs"/>
              </a:rPr>
              <a:t>with</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Sklearn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CDBE39BD-D4DE-02FA-94CC-F4D5B717FBAA}"/>
              </a:ext>
            </a:extLst>
          </p:cNvPr>
          <p:cNvSpPr txBox="1"/>
          <p:nvPr/>
        </p:nvSpPr>
        <p:spPr>
          <a:xfrm>
            <a:off x="351578" y="2246294"/>
            <a:ext cx="9719521" cy="3539430"/>
          </a:xfrm>
          <a:prstGeom prst="rect">
            <a:avLst/>
          </a:prstGeom>
          <a:noFill/>
        </p:spPr>
        <p:txBody>
          <a:bodyPr wrap="square">
            <a:spAutoFit/>
          </a:bodyPr>
          <a:lstStyle/>
          <a:p>
            <a:r>
              <a:rPr lang="en-GB" sz="2800" dirty="0">
                <a:solidFill>
                  <a:schemeClr val="bg1"/>
                </a:solidFill>
                <a:latin typeface="Neuzeit Grotesk Light" pitchFamily="2" charset="77"/>
              </a:rPr>
              <a:t>We will demonstrate this below. We will use 80% of the data as training and 20% as test data. We could just as well have taken 70% and 30%, because there are no hard and fast rules. </a:t>
            </a:r>
          </a:p>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The most important thing is that you rate your system fairly based on data it did not see during exercise! In addition, there must be enough data in both data sets. . </a:t>
            </a:r>
          </a:p>
        </p:txBody>
      </p:sp>
    </p:spTree>
    <p:extLst>
      <p:ext uri="{BB962C8B-B14F-4D97-AF65-F5344CB8AC3E}">
        <p14:creationId xmlns:p14="http://schemas.microsoft.com/office/powerpoint/2010/main" val="17737381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fontAlgn="base"/>
            <a:r>
              <a:rPr lang="de-DE" sz="3200" u="sng" dirty="0">
                <a:solidFill>
                  <a:schemeClr val="bg1"/>
                </a:solidFill>
                <a:latin typeface="Neuzeit Grotesk Light" pitchFamily="2" charset="77"/>
                <a:ea typeface="+mn-ea"/>
                <a:cs typeface="+mn-cs"/>
              </a:rPr>
              <a:t>3. Split </a:t>
            </a:r>
            <a:r>
              <a:rPr lang="de-DE" sz="3200" u="sng" dirty="0" err="1">
                <a:solidFill>
                  <a:schemeClr val="bg1"/>
                </a:solidFill>
                <a:latin typeface="Neuzeit Grotesk Light" pitchFamily="2" charset="77"/>
                <a:ea typeface="+mn-ea"/>
                <a:cs typeface="+mn-cs"/>
              </a:rPr>
              <a:t>with</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Sklearn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sp>
        <p:nvSpPr>
          <p:cNvPr id="5" name="TextBox 4">
            <a:extLst>
              <a:ext uri="{FF2B5EF4-FFF2-40B4-BE49-F238E27FC236}">
                <a16:creationId xmlns:a16="http://schemas.microsoft.com/office/drawing/2014/main" id="{CDBE39BD-D4DE-02FA-94CC-F4D5B717FBAA}"/>
              </a:ext>
            </a:extLst>
          </p:cNvPr>
          <p:cNvSpPr txBox="1"/>
          <p:nvPr/>
        </p:nvSpPr>
        <p:spPr>
          <a:xfrm>
            <a:off x="351578" y="2246294"/>
            <a:ext cx="9719521" cy="4401205"/>
          </a:xfrm>
          <a:prstGeom prst="rect">
            <a:avLst/>
          </a:prstGeom>
          <a:noFill/>
        </p:spPr>
        <p:txBody>
          <a:bodyPr wrap="square">
            <a:spAutoFit/>
          </a:bodyPr>
          <a:lstStyle/>
          <a:p>
            <a:r>
              <a:rPr lang="en-GB" sz="2800" dirty="0">
                <a:solidFill>
                  <a:schemeClr val="bg1"/>
                </a:solidFill>
                <a:latin typeface="Neuzeit Grotesk Light" pitchFamily="2" charset="77"/>
              </a:rPr>
              <a:t>Stratified Random Sample </a:t>
            </a:r>
          </a:p>
          <a:p>
            <a:endParaRPr lang="en-GB" sz="2800" dirty="0">
              <a:solidFill>
                <a:schemeClr val="bg1"/>
              </a:solidFill>
              <a:latin typeface="Neuzeit Grotesk Light" pitchFamily="2" charset="77"/>
            </a:endParaRPr>
          </a:p>
          <a:p>
            <a:r>
              <a:rPr lang="en-GB" sz="2800" dirty="0">
                <a:solidFill>
                  <a:schemeClr val="bg1"/>
                </a:solidFill>
                <a:latin typeface="Neuzeit Grotesk Light" pitchFamily="2" charset="77"/>
              </a:rPr>
              <a:t>Especially with relatively small amounts of data, it is better to stratify the division. Stratification means that we keep the original class proportion of the data set in the test and training sets. We calculate the class proportions of the previous split in percent using the following code. To calculate the number of occurrences of each class, we use the </a:t>
            </a:r>
            <a:r>
              <a:rPr lang="en-GB" sz="2800" dirty="0" err="1">
                <a:solidFill>
                  <a:schemeClr val="bg1"/>
                </a:solidFill>
                <a:latin typeface="Neuzeit Grotesk Light" pitchFamily="2" charset="77"/>
              </a:rPr>
              <a:t>numpy</a:t>
            </a:r>
            <a:r>
              <a:rPr lang="en-GB" sz="2800" dirty="0">
                <a:solidFill>
                  <a:schemeClr val="bg1"/>
                </a:solidFill>
                <a:latin typeface="Neuzeit Grotesk Light" pitchFamily="2" charset="77"/>
              </a:rPr>
              <a:t> function '</a:t>
            </a:r>
            <a:r>
              <a:rPr lang="en-GB" sz="2800" dirty="0" err="1">
                <a:solidFill>
                  <a:schemeClr val="bg1"/>
                </a:solidFill>
                <a:latin typeface="Neuzeit Grotesk Light" pitchFamily="2" charset="77"/>
              </a:rPr>
              <a:t>bincount</a:t>
            </a:r>
            <a:r>
              <a:rPr lang="en-GB" sz="2800" dirty="0">
                <a:solidFill>
                  <a:schemeClr val="bg1"/>
                </a:solidFill>
                <a:latin typeface="Neuzeit Grotesk Light" pitchFamily="2" charset="77"/>
              </a:rPr>
              <a:t>'. It counts the number of occurrences of each value in the array of non-negative integers passed as an argument. </a:t>
            </a:r>
          </a:p>
        </p:txBody>
      </p:sp>
    </p:spTree>
    <p:extLst>
      <p:ext uri="{BB962C8B-B14F-4D97-AF65-F5344CB8AC3E}">
        <p14:creationId xmlns:p14="http://schemas.microsoft.com/office/powerpoint/2010/main" val="23271463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8439-D903-5A42-9F75-1B93DC0753C5}"/>
              </a:ext>
            </a:extLst>
          </p:cNvPr>
          <p:cNvSpPr>
            <a:spLocks noGrp="1"/>
          </p:cNvSpPr>
          <p:nvPr>
            <p:ph type="title"/>
          </p:nvPr>
        </p:nvSpPr>
        <p:spPr>
          <a:xfrm>
            <a:off x="161850" y="1249173"/>
            <a:ext cx="10337800" cy="1477328"/>
          </a:xfrm>
        </p:spPr>
        <p:txBody>
          <a:bodyPr/>
          <a:lstStyle/>
          <a:p>
            <a:pPr algn="l" fontAlgn="base"/>
            <a:r>
              <a:rPr lang="de-DE" sz="3200" u="sng" dirty="0">
                <a:solidFill>
                  <a:schemeClr val="bg1"/>
                </a:solidFill>
                <a:latin typeface="Neuzeit Grotesk Light" pitchFamily="2" charset="77"/>
                <a:ea typeface="+mn-ea"/>
                <a:cs typeface="+mn-cs"/>
              </a:rPr>
              <a:t>3. Split </a:t>
            </a:r>
            <a:r>
              <a:rPr lang="de-DE" sz="3200" u="sng" dirty="0" err="1">
                <a:solidFill>
                  <a:schemeClr val="bg1"/>
                </a:solidFill>
                <a:latin typeface="Neuzeit Grotesk Light" pitchFamily="2" charset="77"/>
                <a:ea typeface="+mn-ea"/>
                <a:cs typeface="+mn-cs"/>
              </a:rPr>
              <a:t>with</a:t>
            </a:r>
            <a:r>
              <a:rPr lang="de-DE" sz="3200" u="sng" dirty="0">
                <a:solidFill>
                  <a:schemeClr val="bg1"/>
                </a:solidFill>
                <a:latin typeface="Neuzeit Grotesk Light" pitchFamily="2" charset="77"/>
                <a:ea typeface="+mn-ea"/>
                <a:cs typeface="+mn-cs"/>
              </a:rPr>
              <a:t> </a:t>
            </a:r>
            <a:r>
              <a:rPr lang="de-DE" sz="3200" u="sng" dirty="0" err="1">
                <a:solidFill>
                  <a:schemeClr val="bg1"/>
                </a:solidFill>
                <a:latin typeface="Neuzeit Grotesk Light" pitchFamily="2" charset="77"/>
                <a:ea typeface="+mn-ea"/>
                <a:cs typeface="+mn-cs"/>
              </a:rPr>
              <a:t>Sklearn</a:t>
            </a:r>
            <a:br>
              <a:rPr lang="en-GB" sz="3200" u="sng" dirty="0">
                <a:solidFill>
                  <a:schemeClr val="bg1"/>
                </a:solidFill>
                <a:latin typeface="Neuzeit Grotesk Light" pitchFamily="2" charset="77"/>
                <a:ea typeface="+mn-ea"/>
                <a:cs typeface="+mn-cs"/>
              </a:rPr>
            </a:br>
            <a:br>
              <a:rPr lang="en-GB" sz="3200" u="sng" dirty="0">
                <a:solidFill>
                  <a:schemeClr val="bg1"/>
                </a:solidFill>
                <a:latin typeface="Neuzeit Grotesk Light" pitchFamily="2" charset="77"/>
                <a:ea typeface="+mn-ea"/>
                <a:cs typeface="+mn-cs"/>
              </a:rPr>
            </a:br>
            <a:endParaRPr lang="de-DE" sz="3200" u="sng" dirty="0">
              <a:solidFill>
                <a:schemeClr val="bg1"/>
              </a:solidFill>
              <a:latin typeface="Neuzeit Grotesk Light" pitchFamily="2" charset="77"/>
              <a:ea typeface="+mn-ea"/>
              <a:cs typeface="+mn-cs"/>
            </a:endParaRPr>
          </a:p>
        </p:txBody>
      </p:sp>
      <p:sp>
        <p:nvSpPr>
          <p:cNvPr id="4" name="TextBox 3">
            <a:extLst>
              <a:ext uri="{FF2B5EF4-FFF2-40B4-BE49-F238E27FC236}">
                <a16:creationId xmlns:a16="http://schemas.microsoft.com/office/drawing/2014/main" id="{7F6E39A5-7D63-AA40-9CCE-21649ED4AE3C}"/>
              </a:ext>
            </a:extLst>
          </p:cNvPr>
          <p:cNvSpPr txBox="1"/>
          <p:nvPr/>
        </p:nvSpPr>
        <p:spPr>
          <a:xfrm>
            <a:off x="3631096" y="2637183"/>
            <a:ext cx="184731" cy="369332"/>
          </a:xfrm>
          <a:prstGeom prst="rect">
            <a:avLst/>
          </a:prstGeom>
          <a:noFill/>
        </p:spPr>
        <p:txBody>
          <a:bodyPr wrap="none" rtlCol="0">
            <a:spAutoFit/>
          </a:bodyPr>
          <a:lstStyle/>
          <a:p>
            <a:endParaRPr lang="da-DK" dirty="0"/>
          </a:p>
        </p:txBody>
      </p:sp>
      <p:sp>
        <p:nvSpPr>
          <p:cNvPr id="7" name="Content Placeholder 2">
            <a:extLst>
              <a:ext uri="{FF2B5EF4-FFF2-40B4-BE49-F238E27FC236}">
                <a16:creationId xmlns:a16="http://schemas.microsoft.com/office/drawing/2014/main" id="{CEC8DB0B-8917-4E41-95C7-2EEBE920BCB9}"/>
              </a:ext>
            </a:extLst>
          </p:cNvPr>
          <p:cNvSpPr txBox="1">
            <a:spLocks/>
          </p:cNvSpPr>
          <p:nvPr/>
        </p:nvSpPr>
        <p:spPr>
          <a:xfrm>
            <a:off x="622300" y="2169350"/>
            <a:ext cx="8762608" cy="53340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de-DE" sz="2800" dirty="0">
              <a:solidFill>
                <a:schemeClr val="bg1"/>
              </a:solidFill>
              <a:latin typeface="Neuzeit Grotesk Light" pitchFamily="2" charset="77"/>
            </a:endParaRPr>
          </a:p>
        </p:txBody>
      </p:sp>
      <p:sp>
        <p:nvSpPr>
          <p:cNvPr id="8" name="TextBox 7">
            <a:extLst>
              <a:ext uri="{FF2B5EF4-FFF2-40B4-BE49-F238E27FC236}">
                <a16:creationId xmlns:a16="http://schemas.microsoft.com/office/drawing/2014/main" id="{148EEC30-57E8-0328-45CA-DBD61E3D786A}"/>
              </a:ext>
            </a:extLst>
          </p:cNvPr>
          <p:cNvSpPr txBox="1"/>
          <p:nvPr/>
        </p:nvSpPr>
        <p:spPr>
          <a:xfrm>
            <a:off x="317500" y="1876425"/>
            <a:ext cx="9372600" cy="954107"/>
          </a:xfrm>
          <a:prstGeom prst="rect">
            <a:avLst/>
          </a:prstGeom>
          <a:noFill/>
        </p:spPr>
        <p:txBody>
          <a:bodyPr wrap="square">
            <a:spAutoFit/>
          </a:bodyPr>
          <a:lstStyle/>
          <a:p>
            <a:endParaRPr lang="en-GB" sz="2800" dirty="0">
              <a:solidFill>
                <a:schemeClr val="bg1"/>
              </a:solidFill>
              <a:latin typeface="Neuzeit Grotesk Light" pitchFamily="2" charset="77"/>
            </a:endParaRPr>
          </a:p>
          <a:p>
            <a:endParaRPr lang="en-GB" sz="2800" dirty="0">
              <a:solidFill>
                <a:schemeClr val="bg1"/>
              </a:solidFill>
              <a:latin typeface="Neuzeit Grotesk Light" pitchFamily="2" charset="77"/>
            </a:endParaRPr>
          </a:p>
        </p:txBody>
      </p:sp>
      <p:pic>
        <p:nvPicPr>
          <p:cNvPr id="6" name="Picture 5">
            <a:extLst>
              <a:ext uri="{FF2B5EF4-FFF2-40B4-BE49-F238E27FC236}">
                <a16:creationId xmlns:a16="http://schemas.microsoft.com/office/drawing/2014/main" id="{7B8FA449-1B18-AEB7-2F1D-B5CF8A90B3E5}"/>
              </a:ext>
            </a:extLst>
          </p:cNvPr>
          <p:cNvPicPr>
            <a:picLocks noChangeAspect="1"/>
          </p:cNvPicPr>
          <p:nvPr/>
        </p:nvPicPr>
        <p:blipFill>
          <a:blip r:embed="rId2"/>
          <a:stretch>
            <a:fillRect/>
          </a:stretch>
        </p:blipFill>
        <p:spPr>
          <a:xfrm>
            <a:off x="649898" y="2019364"/>
            <a:ext cx="7750212" cy="5425910"/>
          </a:xfrm>
          <a:prstGeom prst="rect">
            <a:avLst/>
          </a:prstGeom>
        </p:spPr>
      </p:pic>
    </p:spTree>
    <p:extLst>
      <p:ext uri="{BB962C8B-B14F-4D97-AF65-F5344CB8AC3E}">
        <p14:creationId xmlns:p14="http://schemas.microsoft.com/office/powerpoint/2010/main" val="31155299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8BACC1D1B63F264CB5A943C17A1A4DE1" ma:contentTypeVersion="4" ma:contentTypeDescription="Create a new document." ma:contentTypeScope="" ma:versionID="3b9e659efcf181aa44a97c9a5254856f">
  <xsd:schema xmlns:xsd="http://www.w3.org/2001/XMLSchema" xmlns:xs="http://www.w3.org/2001/XMLSchema" xmlns:p="http://schemas.microsoft.com/office/2006/metadata/properties" xmlns:ns1="http://schemas.microsoft.com/sharepoint/v3" xmlns:ns2="60cb2bb0-26af-4bc6-a4c9-1da0be4cd79e" xmlns:ns4="http://schemas.microsoft.com/sharepoint/v4" targetNamespace="http://schemas.microsoft.com/office/2006/metadata/properties" ma:root="true" ma:fieldsID="8248b9716f4bb1e2834d4a4b6a4f5086" ns1:_="" ns2:_="" ns4:_="">
    <xsd:import namespace="http://schemas.microsoft.com/sharepoint/v3"/>
    <xsd:import namespace="60cb2bb0-26af-4bc6-a4c9-1da0be4cd79e"/>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4:IconOverlay" minOccurs="0"/>
                <xsd:element ref="ns1:_vti_ItemDeclaredRecord" minOccurs="0"/>
                <xsd:element ref="ns1:_vti_ItemHoldRecord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13" nillable="true" ma:displayName="Declared Record" ma:hidden="true" ma:internalName="_vti_ItemDeclaredRecord" ma:readOnly="true">
      <xsd:simpleType>
        <xsd:restriction base="dms:DateTime"/>
      </xsd:simpleType>
    </xsd:element>
    <xsd:element name="_vti_ItemHoldRecordStatus" ma:index="14" nillable="true" ma:displayName="Hold and Record Status" ma:decimals="0" ma:description="" ma:hidden="true" ma:indexed="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cb2bb0-26af-4bc6-a4c9-1da0be4cd79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2"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13FA2B-EB13-4F62-BDA3-B6E9B824CA7B}">
  <ds:schemaRefs>
    <ds:schemaRef ds:uri="http://schemas.microsoft.com/sharepoint/events"/>
  </ds:schemaRefs>
</ds:datastoreItem>
</file>

<file path=customXml/itemProps2.xml><?xml version="1.0" encoding="utf-8"?>
<ds:datastoreItem xmlns:ds="http://schemas.openxmlformats.org/officeDocument/2006/customXml" ds:itemID="{D7FD8A7C-6739-4BD6-8267-1B7C787442DB}">
  <ds:schemaRefs>
    <ds:schemaRef ds:uri="http://schemas.microsoft.com/sharepoint/v3/contenttype/forms"/>
  </ds:schemaRefs>
</ds:datastoreItem>
</file>

<file path=customXml/itemProps3.xml><?xml version="1.0" encoding="utf-8"?>
<ds:datastoreItem xmlns:ds="http://schemas.openxmlformats.org/officeDocument/2006/customXml" ds:itemID="{62DB2298-1B43-45CF-978F-05B0C383FA00}">
  <ds:schemaRefs>
    <ds:schemaRef ds:uri="http://schemas.microsoft.com/office/2006/metadata/properties"/>
    <ds:schemaRef ds:uri="http://schemas.microsoft.com/sharepoint/v3"/>
    <ds:schemaRef ds:uri="http://schemas.microsoft.com/sharepoint/v4"/>
    <ds:schemaRef ds:uri="http://purl.org/dc/terms/"/>
    <ds:schemaRef ds:uri="http://schemas.microsoft.com/office/2006/documentManagement/types"/>
    <ds:schemaRef ds:uri="http://purl.org/dc/dcmitype/"/>
    <ds:schemaRef ds:uri="http://schemas.microsoft.com/office/infopath/2007/PartnerControls"/>
    <ds:schemaRef ds:uri="60cb2bb0-26af-4bc6-a4c9-1da0be4cd79e"/>
    <ds:schemaRef ds:uri="http://purl.org/dc/elements/1.1/"/>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57FFD673-E21C-47DF-BFA5-F381946122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0cb2bb0-26af-4bc6-a4c9-1da0be4cd79e"/>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TotalTime>
  <Words>2305</Words>
  <Application>Microsoft Macintosh PowerPoint</Application>
  <PresentationFormat>Custom</PresentationFormat>
  <Paragraphs>235</Paragraphs>
  <Slides>66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-apple-system</vt:lpstr>
      <vt:lpstr>Arial</vt:lpstr>
      <vt:lpstr>Calibri</vt:lpstr>
      <vt:lpstr>Neuzeit Grotesk</vt:lpstr>
      <vt:lpstr>Neuzeit Grotesk Light</vt:lpstr>
      <vt:lpstr>Neuzeit Grotesk Light</vt:lpstr>
      <vt:lpstr>Wingdings</vt:lpstr>
      <vt:lpstr>Office Theme</vt:lpstr>
      <vt:lpstr>PowerPoint Presentation</vt:lpstr>
      <vt:lpstr>PowerPoint Presentation</vt:lpstr>
      <vt:lpstr>1. Sklearn Datasets  </vt:lpstr>
      <vt:lpstr>2. IRIS Plants Dataset  </vt:lpstr>
      <vt:lpstr>2. IRIS Plants Dataset   </vt:lpstr>
      <vt:lpstr>2. IRIS Plants Dataset  </vt:lpstr>
      <vt:lpstr>2. IRIS Plants Dataset  </vt:lpstr>
      <vt:lpstr>2. IRIS Plants Dataset  </vt:lpstr>
      <vt:lpstr>2. IRIS Plants Dataset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Introduction  </vt:lpstr>
      <vt:lpstr>1. Introduction  </vt:lpstr>
      <vt:lpstr>1. Introduction  </vt:lpstr>
      <vt:lpstr>1. Introduction  </vt:lpstr>
      <vt:lpstr>2. Scikit-learn Loading Iris CSV file </vt:lpstr>
      <vt:lpstr>2. Scikit-learn Loading Iris CSV file </vt:lpstr>
      <vt:lpstr>2. Scikit-learn Loading Iris CSV file </vt:lpstr>
      <vt:lpstr>2. Scikit-learn Loading Iris CSV file  </vt:lpstr>
      <vt:lpstr>2. Scikit-learn Loading Iris CSV file </vt:lpstr>
      <vt:lpstr>2. Scikit-learn Loading Iris CSV file  </vt:lpstr>
      <vt:lpstr>3. Printing the Information About the Class </vt:lpstr>
      <vt:lpstr>3. Printing the Information About the Class </vt:lpstr>
      <vt:lpstr>3. Printing the Information About the Class </vt:lpstr>
      <vt:lpstr>3. Printing the Information About the Class </vt:lpstr>
      <vt:lpstr>3. Printing the Information About the Class </vt:lpstr>
      <vt:lpstr>3. Printing the Information About the Class </vt:lpstr>
      <vt:lpstr>PowerPoint Presentation</vt:lpstr>
      <vt:lpstr>PowerPoint Presentation</vt:lpstr>
      <vt:lpstr>1. Features of Iris Datasets  </vt:lpstr>
      <vt:lpstr>1. Features of Iris Datasets  </vt:lpstr>
      <vt:lpstr>1. Features of Iris Datasets  These class names are stored in the last attribute, namely target_names </vt:lpstr>
      <vt:lpstr>1. Features of Iris Datasets  </vt:lpstr>
      <vt:lpstr>1. Features of Iris Datasets  </vt:lpstr>
      <vt:lpstr>2.Histograms of The Features  </vt:lpstr>
      <vt:lpstr>2.Histograms of The Features  </vt:lpstr>
      <vt:lpstr>2.Histograms of The Features  </vt:lpstr>
      <vt:lpstr>3. Scatterplot With Two Features   </vt:lpstr>
      <vt:lpstr>3. Scatterplot With Two Features   </vt:lpstr>
      <vt:lpstr>3. Scatterplot With Two Features   </vt:lpstr>
      <vt:lpstr>3. Scatterplot With Two Features   </vt:lpstr>
      <vt:lpstr>1. Learn, Test and Evaluation Data    </vt:lpstr>
      <vt:lpstr>1. Learn, Test and Evaluation Data    </vt:lpstr>
      <vt:lpstr>1. Learn, Test and Evaluation Data    </vt:lpstr>
      <vt:lpstr>1. Learn, Test and Evaluation Data    </vt:lpstr>
      <vt:lpstr>1. Learn, Test and Evaluation Data    </vt:lpstr>
      <vt:lpstr>1. Learn, Test and Evaluation Data    </vt:lpstr>
      <vt:lpstr>1. Learn, Test and Evaluation Data    </vt:lpstr>
      <vt:lpstr>2. Splitting Example: Iris Data Set     </vt:lpstr>
      <vt:lpstr>2. Splitting Example: Iris Data Set     </vt:lpstr>
      <vt:lpstr>2. Splitting Example: Iris Data Set     </vt:lpstr>
      <vt:lpstr>2. Splitting Example: Iris Data Set     </vt:lpstr>
      <vt:lpstr>2. Splitting Example: Iris Data Set     </vt:lpstr>
      <vt:lpstr>3. Split with Sklearn  </vt:lpstr>
      <vt:lpstr>3. Split with Sklearn  </vt:lpstr>
      <vt:lpstr>3. Split with Sklearn  </vt:lpstr>
      <vt:lpstr>3. Split with Sklearn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Elham Shirvani</dc:creator>
  <cp:lastModifiedBy>Priyadarshini Pattanaik</cp:lastModifiedBy>
  <cp:revision>74</cp:revision>
  <dcterms:created xsi:type="dcterms:W3CDTF">2021-03-18T10:38:37Z</dcterms:created>
  <dcterms:modified xsi:type="dcterms:W3CDTF">2026-10-18T19:46:41Z</dcterms:modified>
</cp:coreProperties>
</file>